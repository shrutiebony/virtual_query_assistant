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7" r:id="rId2"/>
    <p:sldId id="316" r:id="rId3"/>
    <p:sldId id="331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2" r:id="rId18"/>
    <p:sldId id="333" r:id="rId19"/>
    <p:sldId id="33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E63E-0DC6-149D-F2FC-293D561C2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16094-E77B-D58D-B201-5A30C61A1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CB46A-19AC-A3ED-E9AF-8FDDF89D6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3775-EDC7-4111-CD19-3A3E64184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3E34-3300-F568-530A-7E0A01CA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51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20F3-618A-83D1-2B2E-0D0E52B4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A8D3B-63B1-EB4C-C674-772949091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3D9DC-8296-7729-8A7D-6240F196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F9652-B408-BF9E-66C3-3DD0AF383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FDFAC-2151-A315-6D4C-FAD9E874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3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A4EE-BD50-23BF-6B53-51571617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A2C0-8FE1-A0FA-EB31-9B6C958E6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A41C6-1E0F-FBC9-B1DE-759DB433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6201-6AA2-21B0-5C28-DC270422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573AC-C166-30D2-E463-3D550D1BC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6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E44B-C6B3-7C58-37C4-4E2F279B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7FF7-FCC1-E70C-78BC-7A1DC0978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030B7-ABDA-FEEE-7C08-7E9A9A5EA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F958B-A124-1C4F-E8C4-BA82ECD6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C20CC-A001-A032-92F0-785C7E21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D6035-B21B-7F03-9F66-7CA14609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9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1F8A-E6F1-D20F-0C3B-7F687606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E13E1-77D1-DBBE-F935-DE5FAD1C4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3A3FC-34DA-66B5-564B-2366D7F2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F514B-B288-A43F-028C-F052EE083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DB080-767E-619B-607A-ABF6F75D0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6FD727-7E61-E0E7-2018-CB863B45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936A86-D806-010E-60DD-00158CC1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7EE73B-2F15-C115-2B8D-B72FD682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3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94F7-3E52-15A1-07C5-063D218B1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9DCE47-86E8-DAF9-8DDA-75AB8E61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1F7CD-9187-AEFF-E0E1-18CECBCDB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4A431-4A0A-F7E8-9B26-0ED3DAF0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39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636941-2982-9BE6-AC07-C27A74FF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58232-C5B6-B5F8-C7D8-36CDBB31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C929C-1521-F495-540E-8BD8BC3D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5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74C45-19B1-9D0E-D14B-257D8FE6B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BEAD-8EA2-6A28-F2CB-BE1EA5164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2EF40-AA8F-BAD0-09DC-80DDA0D29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C4411-2B67-9E82-CC8F-927B6E051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37271-FBC6-0F72-0F26-FE65AB8D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6E804-699A-557F-E2D8-5BB47A502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18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7566-A6A4-50ED-83A8-84BD0759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85CB2-D9E1-4DAE-0405-9A663C6E1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7C80B-51FD-A5C6-0E66-F92A0B549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5483A-BBD0-32D0-96E3-9CE234163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5020-13A2-1789-A11A-5DB28D2BF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AF485-6A78-DDA5-D0F5-CBDC5495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0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CF4A-5507-E6EF-DCAB-6B5E864B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92971-7514-1549-DBA0-668E88C00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DD264-236E-5F4D-3E10-B792F78CE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1E649-188C-C5DB-7435-E0570140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600BB-476B-4689-C2A9-EFDD703A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2D9A40-50E4-5012-B81F-0568F0AF1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5DCC3-C1E0-2822-26A1-577BCE3C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2E579-6DC4-D8A1-3F62-4FE48F5F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5E561-08C8-AA8F-28FC-4714DD989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5D226-0F33-6876-5C90-9B25C067E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3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26BBB-96AF-0277-1BBC-57F1CE08E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B9C03-FBAC-5E6B-87CC-169384D2E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193CA-43A6-68E8-7B28-EC2B90F7D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22DB2-6A19-4702-99B8-024A99BB56D0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7849C-C431-A527-2A07-790ABBBDD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EB3BE-1108-BD65-771F-D9C356451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500A32-D31E-4A97-896A-48AD19BBB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1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269120" y="614480"/>
            <a:ext cx="54000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4000" b="1" dirty="0">
                <a:solidFill>
                  <a:srgbClr val="1E293B"/>
                </a:solidFill>
              </a:rPr>
              <a:t>Database Assistant</a:t>
            </a:r>
          </a:p>
          <a:p>
            <a:pPr>
              <a:buNone/>
            </a:pPr>
            <a:r>
              <a:rPr lang="en-US" sz="2000" dirty="0">
                <a:solidFill>
                  <a:srgbClr val="4F46E5"/>
                </a:solidFill>
              </a:rPr>
              <a:t>AI-Powered Natural Language to SQL Platform</a:t>
            </a:r>
          </a:p>
        </p:txBody>
      </p:sp>
      <p:sp>
        <p:nvSpPr>
          <p:cNvPr id="21" name="uline"/>
          <p:cNvSpPr/>
          <p:nvPr/>
        </p:nvSpPr>
        <p:spPr>
          <a:xfrm>
            <a:off x="431680" y="2362201"/>
            <a:ext cx="10784960" cy="4571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sub"/>
          <p:cNvSpPr txBox="1"/>
          <p:nvPr/>
        </p:nvSpPr>
        <p:spPr>
          <a:xfrm>
            <a:off x="431680" y="2555641"/>
            <a:ext cx="54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600" dirty="0">
                <a:solidFill>
                  <a:srgbClr val="475569"/>
                </a:solidFill>
              </a:rPr>
              <a:t>React 18 · FastAPI · Gemini 2.5 Flash · Google Cloud Run</a:t>
            </a:r>
          </a:p>
        </p:txBody>
      </p:sp>
      <p:sp>
        <p:nvSpPr>
          <p:cNvPr id="23" name="team"/>
          <p:cNvSpPr/>
          <p:nvPr/>
        </p:nvSpPr>
        <p:spPr>
          <a:xfrm>
            <a:off x="431680" y="4221540"/>
            <a:ext cx="7838560" cy="14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txBody>
          <a:bodyPr lIns="228600" anchor="ctr"/>
          <a:lstStyle/>
          <a:p>
            <a:pPr>
              <a:buNone/>
            </a:pPr>
            <a:r>
              <a:rPr lang="en-US" sz="1600" b="1" dirty="0">
                <a:solidFill>
                  <a:srgbClr val="1E293B"/>
                </a:solidFill>
              </a:rPr>
              <a:t>Team: Siri Batchu · Shruti Goyal · Rutuja B. Patil · Aditya Rajpurohit</a:t>
            </a:r>
          </a:p>
          <a:p>
            <a:pPr>
              <a:buNone/>
            </a:pPr>
            <a:endParaRPr lang="en-US" sz="1600" b="1" dirty="0">
              <a:solidFill>
                <a:srgbClr val="1E293B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475569"/>
                </a:solidFill>
              </a:rPr>
              <a:t>Advisor:</a:t>
            </a:r>
            <a:r>
              <a:rPr lang="en-US" sz="1600" dirty="0">
                <a:solidFill>
                  <a:srgbClr val="475569"/>
                </a:solidFill>
              </a:rPr>
              <a:t> Prof. Vijay </a:t>
            </a:r>
            <a:r>
              <a:rPr lang="en-US" sz="1600" dirty="0" err="1">
                <a:solidFill>
                  <a:srgbClr val="475569"/>
                </a:solidFill>
              </a:rPr>
              <a:t>Eranti</a:t>
            </a:r>
            <a:endParaRPr lang="en-US" sz="1600" dirty="0">
              <a:solidFill>
                <a:srgbClr val="475569"/>
              </a:solidFill>
            </a:endParaRPr>
          </a:p>
          <a:p>
            <a:pPr>
              <a:buNone/>
            </a:pPr>
            <a:endParaRPr lang="en-US" sz="1600" dirty="0">
              <a:solidFill>
                <a:srgbClr val="475569"/>
              </a:solidFill>
            </a:endParaRPr>
          </a:p>
          <a:p>
            <a:pPr>
              <a:buNone/>
            </a:pPr>
            <a:r>
              <a:rPr lang="en-US" sz="1600" dirty="0">
                <a:solidFill>
                  <a:srgbClr val="475569"/>
                </a:solidFill>
              </a:rPr>
              <a:t>SJSU CMPE 295B · Master of Science in Software Engineering · 2026</a:t>
            </a:r>
          </a:p>
        </p:txBody>
      </p:sp>
    </p:spTree>
    <p:extLst>
      <p:ext uri="{BB962C8B-B14F-4D97-AF65-F5344CB8AC3E}">
        <p14:creationId xmlns:p14="http://schemas.microsoft.com/office/powerpoint/2010/main" val="267637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lIns="457200" anchor="ctr"/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</a:rPr>
              <a:t>                                The Problem: Data Is Locked Behind SQL Expertise</a:t>
            </a:r>
          </a:p>
        </p:txBody>
      </p:sp>
      <p:sp>
        <p:nvSpPr>
          <p:cNvPr id="10" name="prob0"/>
          <p:cNvSpPr/>
          <p:nvPr/>
        </p:nvSpPr>
        <p:spPr>
          <a:xfrm>
            <a:off x="751840" y="1048600"/>
            <a:ext cx="4267200" cy="200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txBody>
          <a:bodyPr lIns="228600" tIns="228600" rIns="228600" anchor="t"/>
          <a:lstStyle/>
          <a:p>
            <a:pPr>
              <a:buNone/>
            </a:pPr>
            <a:r>
              <a:rPr lang="en-US" sz="1800" b="1" dirty="0">
                <a:solidFill>
                  <a:srgbClr val="DC2626"/>
                </a:solidFill>
              </a:rPr>
              <a:t>SQL Expertise Gap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dirty="0">
                <a:solidFill>
                  <a:srgbClr val="334155"/>
                </a:solidFill>
              </a:rPr>
              <a:t>Business users cannot directly query databases. Analysts act as translators, creating bottlenecks that slow decision-making by days.</a:t>
            </a:r>
          </a:p>
        </p:txBody>
      </p:sp>
      <p:sp>
        <p:nvSpPr>
          <p:cNvPr id="11" name="prob1"/>
          <p:cNvSpPr/>
          <p:nvPr/>
        </p:nvSpPr>
        <p:spPr>
          <a:xfrm>
            <a:off x="7010400" y="1048600"/>
            <a:ext cx="4267200" cy="200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txBody>
          <a:bodyPr lIns="228600" tIns="228600" rIns="228600" anchor="t"/>
          <a:lstStyle/>
          <a:p>
            <a:pPr>
              <a:buNone/>
            </a:pPr>
            <a:r>
              <a:rPr lang="en-US" sz="1800" b="1" dirty="0">
                <a:solidFill>
                  <a:srgbClr val="D97706"/>
                </a:solidFill>
              </a:rPr>
              <a:t>One-Shot Pipelines Fail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dirty="0">
                <a:solidFill>
                  <a:srgbClr val="334155"/>
                </a:solidFill>
              </a:rPr>
              <a:t>Existing NL-to-SQL tools make a single API call with no verification. Spider 2.0 shows &lt;20% success on realistic enterprise workflows.</a:t>
            </a:r>
          </a:p>
        </p:txBody>
      </p:sp>
      <p:sp>
        <p:nvSpPr>
          <p:cNvPr id="12" name="prob2"/>
          <p:cNvSpPr/>
          <p:nvPr/>
        </p:nvSpPr>
        <p:spPr>
          <a:xfrm>
            <a:off x="751840" y="3492520"/>
            <a:ext cx="4267200" cy="200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txBody>
          <a:bodyPr lIns="228600" tIns="228600" rIns="228600" anchor="t"/>
          <a:lstStyle/>
          <a:p>
            <a:pPr>
              <a:buNone/>
            </a:pPr>
            <a:r>
              <a:rPr lang="en-US" sz="1800" b="1" dirty="0">
                <a:solidFill>
                  <a:srgbClr val="7C3AED"/>
                </a:solidFill>
              </a:rPr>
              <a:t>No Self-Correction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dirty="0">
                <a:solidFill>
                  <a:srgbClr val="334155"/>
                </a:solidFill>
              </a:rPr>
              <a:t>When queries fail, users must manually debug SQL. There is no automated error recovery or reasoning about the cause of failure.</a:t>
            </a:r>
          </a:p>
        </p:txBody>
      </p:sp>
      <p:sp>
        <p:nvSpPr>
          <p:cNvPr id="13" name="prob3"/>
          <p:cNvSpPr/>
          <p:nvPr/>
        </p:nvSpPr>
        <p:spPr>
          <a:xfrm>
            <a:off x="7010400" y="3532560"/>
            <a:ext cx="4267200" cy="200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0891B2"/>
            </a:solidFill>
          </a:ln>
        </p:spPr>
        <p:txBody>
          <a:bodyPr lIns="228600" tIns="228600" rIns="228600" anchor="t"/>
          <a:lstStyle/>
          <a:p>
            <a:pPr>
              <a:buNone/>
            </a:pPr>
            <a:r>
              <a:rPr lang="en-US" sz="1800" b="1" dirty="0">
                <a:solidFill>
                  <a:srgbClr val="0891B2"/>
                </a:solidFill>
              </a:rPr>
              <a:t>Fragmented Experience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dirty="0">
                <a:solidFill>
                  <a:srgbClr val="334155"/>
                </a:solidFill>
              </a:rPr>
              <a:t>Users must switch between a query tool, visualization tool, and reporting tool. No end-to-end workflow exists in a single platform.</a:t>
            </a:r>
          </a:p>
        </p:txBody>
      </p:sp>
      <p:sp>
        <p:nvSpPr>
          <p:cNvPr id="20" name="banner"/>
          <p:cNvSpPr/>
          <p:nvPr/>
        </p:nvSpPr>
        <p:spPr>
          <a:xfrm>
            <a:off x="751840" y="5895360"/>
            <a:ext cx="10525760" cy="52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lIns="228600" anchor="ctr"/>
          <a:lstStyle/>
          <a:p>
            <a:pPr>
              <a:buNone/>
            </a:pPr>
            <a:r>
              <a:rPr lang="en-US" sz="1600" b="1" dirty="0">
                <a:solidFill>
                  <a:srgbClr val="4F46E5"/>
                </a:solidFill>
              </a:rPr>
              <a:t>DB Assistant addresses all four limitations in a single platform</a:t>
            </a:r>
          </a:p>
        </p:txBody>
      </p:sp>
    </p:spTree>
    <p:extLst>
      <p:ext uri="{BB962C8B-B14F-4D97-AF65-F5344CB8AC3E}">
        <p14:creationId xmlns:p14="http://schemas.microsoft.com/office/powerpoint/2010/main" val="2340436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0"/>
          <p:cNvSpPr/>
          <p:nvPr/>
        </p:nvSpPr>
        <p:spPr>
          <a:xfrm>
            <a:off x="1116120" y="10191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500" b="1" dirty="0">
                <a:solidFill>
                  <a:srgbClr val="1E293B"/>
                </a:solidFill>
              </a:rPr>
              <a:t>NL-to-SQL Pipeline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Schema-aware prompting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4 DB backends (PG/MySQL/Mongo/Supabase)</a:t>
            </a:r>
          </a:p>
        </p:txBody>
      </p:sp>
      <p:sp>
        <p:nvSpPr>
          <p:cNvPr id="11" name="c1"/>
          <p:cNvSpPr/>
          <p:nvPr/>
        </p:nvSpPr>
        <p:spPr>
          <a:xfrm>
            <a:off x="4725000" y="10191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200" b="1" dirty="0">
                <a:solidFill>
                  <a:srgbClr val="4F46E5"/>
                </a:solidFill>
              </a:rPr>
              <a:t> </a:t>
            </a:r>
            <a:r>
              <a:rPr lang="en-US" sz="1500" b="1" dirty="0">
                <a:solidFill>
                  <a:srgbClr val="1E293B"/>
                </a:solidFill>
              </a:rPr>
              <a:t>Adaptive Schema Understanding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Metadata generation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Column semantics + relationships</a:t>
            </a:r>
          </a:p>
        </p:txBody>
      </p:sp>
      <p:sp>
        <p:nvSpPr>
          <p:cNvPr id="12" name="c2"/>
          <p:cNvSpPr/>
          <p:nvPr/>
        </p:nvSpPr>
        <p:spPr>
          <a:xfrm>
            <a:off x="8333880" y="10191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ReAct</a:t>
            </a:r>
            <a:r>
              <a:rPr lang="en-US" sz="1500" b="1" dirty="0">
                <a:solidFill>
                  <a:srgbClr val="1E293B"/>
                </a:solidFill>
              </a:rPr>
              <a:t> Self-Correction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Think–Act–Observe loop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Up to 3 retries with error feedback</a:t>
            </a:r>
          </a:p>
        </p:txBody>
      </p:sp>
      <p:sp>
        <p:nvSpPr>
          <p:cNvPr id="13" name="c3"/>
          <p:cNvSpPr/>
          <p:nvPr/>
        </p:nvSpPr>
        <p:spPr>
          <a:xfrm>
            <a:off x="1095480" y="29510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500" b="1" dirty="0" err="1">
                <a:solidFill>
                  <a:srgbClr val="1E293B"/>
                </a:solidFill>
              </a:rPr>
              <a:t>AlloyDB</a:t>
            </a:r>
            <a:r>
              <a:rPr lang="en-US" sz="1500" b="1" dirty="0">
                <a:solidFill>
                  <a:srgbClr val="1E293B"/>
                </a:solidFill>
              </a:rPr>
              <a:t> AI Simulation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ai.generate / ai.if / ai.rank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On standard PostgreSQL via Gemini</a:t>
            </a:r>
          </a:p>
        </p:txBody>
      </p:sp>
      <p:sp>
        <p:nvSpPr>
          <p:cNvPr id="14" name="c4"/>
          <p:cNvSpPr/>
          <p:nvPr/>
        </p:nvSpPr>
        <p:spPr>
          <a:xfrm>
            <a:off x="4725000" y="29510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endParaRPr lang="en-US" sz="1200" b="1" dirty="0">
              <a:solidFill>
                <a:srgbClr val="059669"/>
              </a:solidFill>
            </a:endParaRPr>
          </a:p>
          <a:p>
            <a:pPr>
              <a:buNone/>
            </a:pPr>
            <a:r>
              <a:rPr lang="en-US" sz="1500" b="1" dirty="0">
                <a:solidFill>
                  <a:srgbClr val="1E293B"/>
                </a:solidFill>
              </a:rPr>
              <a:t>Template-Based Gen UI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5 pre-built HTML templates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10× faster, 100% success rate</a:t>
            </a:r>
          </a:p>
        </p:txBody>
      </p:sp>
      <p:sp>
        <p:nvSpPr>
          <p:cNvPr id="15" name="c5"/>
          <p:cNvSpPr/>
          <p:nvPr/>
        </p:nvSpPr>
        <p:spPr>
          <a:xfrm>
            <a:off x="8333880" y="28524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500" b="1" dirty="0">
                <a:solidFill>
                  <a:srgbClr val="1E293B"/>
                </a:solidFill>
              </a:rPr>
              <a:t>7-Agent Agentic Pipeline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Perceive–Think–Act–Observe loop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Full transparency + traceability</a:t>
            </a:r>
          </a:p>
        </p:txBody>
      </p:sp>
      <p:sp>
        <p:nvSpPr>
          <p:cNvPr id="16" name="c6"/>
          <p:cNvSpPr/>
          <p:nvPr/>
        </p:nvSpPr>
        <p:spPr>
          <a:xfrm>
            <a:off x="1116120" y="47556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500" b="1" dirty="0">
                <a:solidFill>
                  <a:srgbClr val="1E293B"/>
                </a:solidFill>
              </a:rPr>
              <a:t>L1/L2/L3 Multi-Level Agents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Side-by-side comparison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Speed vs accuracy vs richness</a:t>
            </a:r>
          </a:p>
        </p:txBody>
      </p:sp>
      <p:sp>
        <p:nvSpPr>
          <p:cNvPr id="17" name="c7"/>
          <p:cNvSpPr/>
          <p:nvPr/>
        </p:nvSpPr>
        <p:spPr>
          <a:xfrm>
            <a:off x="4725000" y="47556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500" b="1" dirty="0">
                <a:solidFill>
                  <a:srgbClr val="1E293B"/>
                </a:solidFill>
              </a:rPr>
              <a:t>KDD Cup 2026 Benchmark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96% accuracy on 50 tasks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External validated evaluation</a:t>
            </a:r>
          </a:p>
        </p:txBody>
      </p:sp>
      <p:sp>
        <p:nvSpPr>
          <p:cNvPr id="18" name="c8"/>
          <p:cNvSpPr/>
          <p:nvPr/>
        </p:nvSpPr>
        <p:spPr>
          <a:xfrm>
            <a:off x="8335360" y="4755600"/>
            <a:ext cx="2742000" cy="1500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25400">
            <a:solidFill>
              <a:srgbClr val="059669"/>
            </a:solidFill>
          </a:ln>
        </p:spPr>
        <p:txBody>
          <a:bodyPr lIns="190500" tIns="190500" rIns="190500" anchor="t"/>
          <a:lstStyle/>
          <a:p>
            <a:pPr>
              <a:buNone/>
            </a:pPr>
            <a:r>
              <a:rPr lang="en-US" sz="1200" b="1" dirty="0">
                <a:solidFill>
                  <a:srgbClr val="059669"/>
                </a:solidFill>
              </a:rPr>
              <a:t>  </a:t>
            </a:r>
            <a:r>
              <a:rPr lang="en-US" sz="1500" b="1" dirty="0">
                <a:solidFill>
                  <a:srgbClr val="1E293B"/>
                </a:solidFill>
              </a:rPr>
              <a:t>Open Plugin + Claude Code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Open Plugin Protocol</a:t>
            </a:r>
          </a:p>
          <a:p>
            <a:pPr>
              <a:buNone/>
            </a:pPr>
            <a:r>
              <a:rPr lang="en-US" sz="1200" dirty="0">
                <a:solidFill>
                  <a:srgbClr val="475569"/>
                </a:solidFill>
              </a:rPr>
              <a:t>/db-assistant CLI skills</a:t>
            </a:r>
          </a:p>
        </p:txBody>
      </p:sp>
      <p:sp>
        <p:nvSpPr>
          <p:cNvPr id="5" name="hdr">
            <a:extLst>
              <a:ext uri="{FF2B5EF4-FFF2-40B4-BE49-F238E27FC236}">
                <a16:creationId xmlns:a16="http://schemas.microsoft.com/office/drawing/2014/main" id="{F92706D9-4FCE-CCE2-B46B-E60A3C99976E}"/>
              </a:ext>
            </a:extLst>
          </p:cNvPr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lIns="457200" anchor="ctr"/>
          <a:lstStyle/>
          <a:p>
            <a:pPr>
              <a:buNone/>
            </a:pPr>
            <a:r>
              <a:rPr lang="en-US" sz="2600" b="1" dirty="0">
                <a:solidFill>
                  <a:srgbClr val="FFFFFF"/>
                </a:solidFill>
              </a:rPr>
              <a:t>                               Solution: DB Assistant - End-to-End Agentic Analytics</a:t>
            </a:r>
          </a:p>
        </p:txBody>
      </p:sp>
    </p:spTree>
    <p:extLst>
      <p:ext uri="{BB962C8B-B14F-4D97-AF65-F5344CB8AC3E}">
        <p14:creationId xmlns:p14="http://schemas.microsoft.com/office/powerpoint/2010/main" val="2299778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lIns="45720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r>
              <a:rPr lang="en-US" sz="2000" dirty="0">
                <a:solidFill>
                  <a:srgbClr val="94A3B8"/>
                </a:solidFill>
              </a:rPr>
              <a:t>   ·   5-Tier Modular Design</a:t>
            </a:r>
          </a:p>
        </p:txBody>
      </p:sp>
      <p:sp>
        <p:nvSpPr>
          <p:cNvPr id="10" name="th0"/>
          <p:cNvSpPr/>
          <p:nvPr/>
        </p:nvSpPr>
        <p:spPr>
          <a:xfrm>
            <a:off x="319120" y="1558160"/>
            <a:ext cx="1638000" cy="7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Tier</a:t>
            </a:r>
          </a:p>
        </p:txBody>
      </p:sp>
      <p:sp>
        <p:nvSpPr>
          <p:cNvPr id="20" name="tb0"/>
          <p:cNvSpPr/>
          <p:nvPr/>
        </p:nvSpPr>
        <p:spPr>
          <a:xfrm>
            <a:off x="319120" y="2328895"/>
            <a:ext cx="1638000" cy="26162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>
                <a:alpha val="40000"/>
              </a:srgbClr>
            </a:solidFill>
          </a:ln>
        </p:spPr>
        <p:txBody>
          <a:bodyPr lIns="152400" tIns="228600" anchor="t"/>
          <a:lstStyle/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React 18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React Router v6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Recharts · Chart.js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Axios · Lucide</a:t>
            </a:r>
          </a:p>
        </p:txBody>
      </p:sp>
      <p:sp>
        <p:nvSpPr>
          <p:cNvPr id="30" name="arr0"/>
          <p:cNvSpPr txBox="1"/>
          <p:nvPr/>
        </p:nvSpPr>
        <p:spPr>
          <a:xfrm>
            <a:off x="2190530" y="1748160"/>
            <a:ext cx="100000" cy="38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th1"/>
          <p:cNvSpPr/>
          <p:nvPr/>
        </p:nvSpPr>
        <p:spPr>
          <a:xfrm>
            <a:off x="2704980" y="1558160"/>
            <a:ext cx="1638000" cy="76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Tier</a:t>
            </a:r>
          </a:p>
        </p:txBody>
      </p:sp>
      <p:sp>
        <p:nvSpPr>
          <p:cNvPr id="21" name="tb1"/>
          <p:cNvSpPr/>
          <p:nvPr/>
        </p:nvSpPr>
        <p:spPr>
          <a:xfrm>
            <a:off x="2704980" y="2318160"/>
            <a:ext cx="1638000" cy="2626975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>
                <a:alpha val="40000"/>
              </a:srgbClr>
            </a:solidFill>
          </a:ln>
        </p:spPr>
        <p:txBody>
          <a:bodyPr lIns="152400" tIns="228600" anchor="t"/>
          <a:lstStyle/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FastAPI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46 REST Endpoints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9 Routers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JWT Auth</a:t>
            </a:r>
          </a:p>
        </p:txBody>
      </p:sp>
      <p:sp>
        <p:nvSpPr>
          <p:cNvPr id="31" name="arr1"/>
          <p:cNvSpPr txBox="1"/>
          <p:nvPr/>
        </p:nvSpPr>
        <p:spPr>
          <a:xfrm>
            <a:off x="4656850" y="1748160"/>
            <a:ext cx="100000" cy="38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2" name="th2"/>
          <p:cNvSpPr/>
          <p:nvPr/>
        </p:nvSpPr>
        <p:spPr>
          <a:xfrm>
            <a:off x="5090840" y="1558160"/>
            <a:ext cx="1638000" cy="7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AI Tier</a:t>
            </a:r>
          </a:p>
        </p:txBody>
      </p:sp>
      <p:sp>
        <p:nvSpPr>
          <p:cNvPr id="22" name="tb2"/>
          <p:cNvSpPr/>
          <p:nvPr/>
        </p:nvSpPr>
        <p:spPr>
          <a:xfrm>
            <a:off x="5090840" y="2328894"/>
            <a:ext cx="1638000" cy="2616241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40000"/>
              </a:srgbClr>
            </a:solidFill>
          </a:ln>
        </p:spPr>
        <p:txBody>
          <a:bodyPr lIns="152400" tIns="228600" anchor="t"/>
          <a:lstStyle/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Gemini 2.5 Flash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6 Call Contexts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1M Token Context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Temp: 0.0–0.3</a:t>
            </a:r>
          </a:p>
        </p:txBody>
      </p:sp>
      <p:sp>
        <p:nvSpPr>
          <p:cNvPr id="32" name="arr2"/>
          <p:cNvSpPr txBox="1"/>
          <p:nvPr/>
        </p:nvSpPr>
        <p:spPr>
          <a:xfrm>
            <a:off x="7001190" y="1748160"/>
            <a:ext cx="100000" cy="38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th3"/>
          <p:cNvSpPr/>
          <p:nvPr/>
        </p:nvSpPr>
        <p:spPr>
          <a:xfrm>
            <a:off x="7343300" y="1558160"/>
            <a:ext cx="1638000" cy="76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23" name="tb3"/>
          <p:cNvSpPr/>
          <p:nvPr/>
        </p:nvSpPr>
        <p:spPr>
          <a:xfrm>
            <a:off x="7343300" y="2328894"/>
            <a:ext cx="1638000" cy="2616241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>
                <a:alpha val="40000"/>
              </a:srgbClr>
            </a:solidFill>
          </a:ln>
        </p:spPr>
        <p:txBody>
          <a:bodyPr lIns="152400" tIns="228600" anchor="t"/>
          <a:lstStyle/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PostgreSQL 15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MySQL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MongoDB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SQLite (in-mem)</a:t>
            </a:r>
          </a:p>
        </p:txBody>
      </p:sp>
      <p:sp>
        <p:nvSpPr>
          <p:cNvPr id="33" name="arr3"/>
          <p:cNvSpPr txBox="1"/>
          <p:nvPr/>
        </p:nvSpPr>
        <p:spPr>
          <a:xfrm>
            <a:off x="9300950" y="1748160"/>
            <a:ext cx="100000" cy="38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th4"/>
          <p:cNvSpPr/>
          <p:nvPr/>
        </p:nvSpPr>
        <p:spPr>
          <a:xfrm>
            <a:off x="9629160" y="1551600"/>
            <a:ext cx="1638000" cy="7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Cloud Tier</a:t>
            </a:r>
          </a:p>
        </p:txBody>
      </p:sp>
      <p:sp>
        <p:nvSpPr>
          <p:cNvPr id="24" name="tb4"/>
          <p:cNvSpPr/>
          <p:nvPr/>
        </p:nvSpPr>
        <p:spPr>
          <a:xfrm>
            <a:off x="9629160" y="2318160"/>
            <a:ext cx="1638000" cy="2626975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40000"/>
              </a:srgbClr>
            </a:solidFill>
          </a:ln>
        </p:spPr>
        <p:txBody>
          <a:bodyPr lIns="152400" tIns="228600" anchor="t"/>
          <a:lstStyle/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Cloud Run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Cloud SQL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Artifact Registry</a:t>
            </a:r>
          </a:p>
          <a:p>
            <a:pPr marL="152400" indent="-152400">
              <a:buChar char="·"/>
            </a:pPr>
            <a:r>
              <a:rPr lang="en-US" sz="1400" dirty="0">
                <a:solidFill>
                  <a:srgbClr val="334155"/>
                </a:solidFill>
              </a:rPr>
              <a:t>Cloud Build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987120" y="5528090"/>
            <a:ext cx="9784080" cy="68580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Frontend ↔ Backend via JWT-authenticated REST · Gemini API called from Backend · All tiers deployed on Google Cloud</a:t>
            </a:r>
          </a:p>
        </p:txBody>
      </p:sp>
    </p:spTree>
    <p:extLst>
      <p:ext uri="{BB962C8B-B14F-4D97-AF65-F5344CB8AC3E}">
        <p14:creationId xmlns:p14="http://schemas.microsoft.com/office/powerpoint/2010/main" val="148552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lIns="457200"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0" name="sec0"/>
          <p:cNvSpPr/>
          <p:nvPr/>
        </p:nvSpPr>
        <p:spPr>
          <a:xfrm>
            <a:off x="1445260" y="867200"/>
            <a:ext cx="4267200" cy="1800000"/>
          </a:xfrm>
          <a:prstGeom prst="rect">
            <a:avLst/>
          </a:prstGeom>
          <a:solidFill>
            <a:srgbClr val="F8FAFC"/>
          </a:solidFill>
          <a:ln w="19050" cmpd="sng">
            <a:solidFill>
              <a:srgbClr val="3B82F6"/>
            </a:solidFill>
          </a:ln>
        </p:spPr>
        <p:txBody>
          <a:bodyPr lIns="228600" tIns="1524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3B82F6"/>
                </a:solidFill>
              </a:rPr>
              <a:t>Frontend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React 18 - SPA with concurrent rendering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React Router v6 - client-side navigation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Axios - JWT interceptors, 60s timeout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Recharts - Bar, Line, Pie, Treemap charts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Chart.js 4.4.0 - Generative UI templates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Lucide React - icon library</a:t>
            </a:r>
          </a:p>
        </p:txBody>
      </p:sp>
      <p:sp>
        <p:nvSpPr>
          <p:cNvPr id="11" name="sec1"/>
          <p:cNvSpPr/>
          <p:nvPr/>
        </p:nvSpPr>
        <p:spPr>
          <a:xfrm>
            <a:off x="6479540" y="867200"/>
            <a:ext cx="4267200" cy="1800000"/>
          </a:xfrm>
          <a:prstGeom prst="rect">
            <a:avLst/>
          </a:prstGeom>
          <a:solidFill>
            <a:srgbClr val="F8FAFC"/>
          </a:solidFill>
          <a:ln w="19050" cmpd="sng">
            <a:solidFill>
              <a:srgbClr val="4F46E5"/>
            </a:solidFill>
          </a:ln>
        </p:spPr>
        <p:txBody>
          <a:bodyPr lIns="228600" tIns="1524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4F46E5"/>
                </a:solidFill>
              </a:rPr>
              <a:t>Backend (FastAPI)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 err="1">
                <a:solidFill>
                  <a:srgbClr val="334155"/>
                </a:solidFill>
              </a:rPr>
              <a:t>FastAPI</a:t>
            </a:r>
            <a:r>
              <a:rPr lang="en-US" sz="1300" dirty="0">
                <a:solidFill>
                  <a:srgbClr val="334155"/>
                </a:solidFill>
              </a:rPr>
              <a:t> - async Python REST framework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46 endpoints across 9 routers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OAuth2 Password Bearer + JWT auth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CORS middleware for Cloud Run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Pydantic request/response validation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Auto-generated OpenAPI documentation</a:t>
            </a:r>
          </a:p>
        </p:txBody>
      </p:sp>
      <p:sp>
        <p:nvSpPr>
          <p:cNvPr id="12" name="sec2"/>
          <p:cNvSpPr/>
          <p:nvPr/>
        </p:nvSpPr>
        <p:spPr>
          <a:xfrm>
            <a:off x="1445260" y="2762980"/>
            <a:ext cx="4267200" cy="1800000"/>
          </a:xfrm>
          <a:prstGeom prst="rect">
            <a:avLst/>
          </a:prstGeom>
          <a:solidFill>
            <a:srgbClr val="F8FAFC"/>
          </a:solidFill>
          <a:ln w="19050" cmpd="sng">
            <a:solidFill>
              <a:srgbClr val="7C3AED"/>
            </a:solidFill>
          </a:ln>
        </p:spPr>
        <p:txBody>
          <a:bodyPr lIns="228600" tIns="1524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7C3AED"/>
                </a:solidFill>
              </a:rPr>
              <a:t>AI (Google Gemini 2.5 Flash)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1M token context window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Temperature 0.0 for SQL determinism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Temperature 0.2 - 0.3 for AI enrichment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6 distinct call contexts in pipeline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google-generativeai Python SDK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Schema-aware prompt engineering</a:t>
            </a:r>
          </a:p>
        </p:txBody>
      </p:sp>
      <p:sp>
        <p:nvSpPr>
          <p:cNvPr id="13" name="sec3"/>
          <p:cNvSpPr/>
          <p:nvPr/>
        </p:nvSpPr>
        <p:spPr>
          <a:xfrm>
            <a:off x="6479540" y="2757900"/>
            <a:ext cx="4267200" cy="1800000"/>
          </a:xfrm>
          <a:prstGeom prst="rect">
            <a:avLst/>
          </a:prstGeom>
          <a:solidFill>
            <a:srgbClr val="F8FAFC"/>
          </a:solidFill>
          <a:ln w="19050" cmpd="sng">
            <a:solidFill>
              <a:srgbClr val="059669"/>
            </a:solidFill>
          </a:ln>
        </p:spPr>
        <p:txBody>
          <a:bodyPr lIns="228600" tIns="1524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059669"/>
                </a:solidFill>
              </a:rPr>
              <a:t>Databases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PostgreSQL 15  - primary + internal DB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MySQL - mysql-connector-python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MongoDB  - Motor async driver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SQLite in-memory (Pandas datasets)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 err="1">
                <a:solidFill>
                  <a:srgbClr val="334155"/>
                </a:solidFill>
              </a:rPr>
              <a:t>Supabase</a:t>
            </a:r>
            <a:r>
              <a:rPr lang="en-US" sz="1300" dirty="0">
                <a:solidFill>
                  <a:srgbClr val="334155"/>
                </a:solidFill>
              </a:rPr>
              <a:t> - via PG connector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Neon serverless - demo database</a:t>
            </a:r>
          </a:p>
        </p:txBody>
      </p:sp>
      <p:sp>
        <p:nvSpPr>
          <p:cNvPr id="14" name="sec4"/>
          <p:cNvSpPr/>
          <p:nvPr/>
        </p:nvSpPr>
        <p:spPr>
          <a:xfrm>
            <a:off x="1445260" y="4648600"/>
            <a:ext cx="4267200" cy="1800000"/>
          </a:xfrm>
          <a:prstGeom prst="rect">
            <a:avLst/>
          </a:prstGeom>
          <a:solidFill>
            <a:srgbClr val="F8FAFC"/>
          </a:solidFill>
          <a:ln w="19050" cmpd="sng">
            <a:solidFill>
              <a:srgbClr val="DC2626"/>
            </a:solidFill>
          </a:ln>
        </p:spPr>
        <p:txBody>
          <a:bodyPr lIns="228600" tIns="1524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DC2626"/>
                </a:solidFill>
              </a:rPr>
              <a:t>Security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Fernet AES-256 credential encryption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bcrypt password hashing (work factor 12)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JWT token signing (python-jose)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SQL Guard - 9 dangerous keyword checks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Word-boundary regex (no false positives)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Defense-in-depth: model + code layers</a:t>
            </a:r>
          </a:p>
        </p:txBody>
      </p:sp>
      <p:sp>
        <p:nvSpPr>
          <p:cNvPr id="15" name="sec5"/>
          <p:cNvSpPr/>
          <p:nvPr/>
        </p:nvSpPr>
        <p:spPr>
          <a:xfrm>
            <a:off x="6479540" y="4648600"/>
            <a:ext cx="4267200" cy="1800000"/>
          </a:xfrm>
          <a:prstGeom prst="rect">
            <a:avLst/>
          </a:prstGeom>
          <a:solidFill>
            <a:srgbClr val="F8FAFC"/>
          </a:solidFill>
          <a:ln w="19050" cmpd="sng">
            <a:solidFill>
              <a:srgbClr val="D97706"/>
            </a:solidFill>
          </a:ln>
        </p:spPr>
        <p:txBody>
          <a:bodyPr lIns="228600" tIns="1524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D97706"/>
                </a:solidFill>
              </a:rPr>
              <a:t>Infrastructure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Google Cloud Run - auto-scale to zero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Cloud SQL PostgreSQL 15 (Unix socket)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Google Artifact Registry + Cloud Build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Docker + Docker Compose (local dev)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Open Plugin Protocol manifest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Claude Code CLI plugin (3 skills)</a:t>
            </a:r>
          </a:p>
        </p:txBody>
      </p:sp>
    </p:spTree>
    <p:extLst>
      <p:ext uri="{BB962C8B-B14F-4D97-AF65-F5344CB8AC3E}">
        <p14:creationId xmlns:p14="http://schemas.microsoft.com/office/powerpoint/2010/main" val="263372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lIns="114300" tIns="76200" rIns="114300" bIns="7620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Seven-Agent Processing Pipeline</a:t>
            </a:r>
          </a:p>
        </p:txBody>
      </p:sp>
      <p:sp>
        <p:nvSpPr>
          <p:cNvPr id="3" name="sub"/>
          <p:cNvSpPr/>
          <p:nvPr/>
        </p:nvSpPr>
        <p:spPr>
          <a:xfrm>
            <a:off x="1752600" y="1329400"/>
            <a:ext cx="8686800" cy="380000"/>
          </a:xfrm>
          <a:prstGeom prst="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txBody>
          <a:bodyPr lIns="114300" tIns="76200" rIns="114300" bIns="76200" anchor="ctr"/>
          <a:lstStyle/>
          <a:p>
            <a:pPr algn="ctr">
              <a:buNone/>
            </a:pPr>
            <a:r>
              <a:rPr lang="en-US" sz="1400" dirty="0">
                <a:solidFill>
                  <a:srgbClr val="3730A3"/>
                </a:solidFill>
              </a:rPr>
              <a:t>Perceive  →  Think  →  Act  →  Observe  |  Sequential orchestration with full AgentState traceability</a:t>
            </a:r>
          </a:p>
        </p:txBody>
      </p:sp>
      <p:sp>
        <p:nvSpPr>
          <p:cNvPr id="50" name="arr0"/>
          <p:cNvSpPr txBox="1"/>
          <p:nvPr/>
        </p:nvSpPr>
        <p:spPr>
          <a:xfrm>
            <a:off x="1701552" y="3180800"/>
            <a:ext cx="168600" cy="36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0" name="num0"/>
          <p:cNvSpPr/>
          <p:nvPr/>
        </p:nvSpPr>
        <p:spPr>
          <a:xfrm>
            <a:off x="733730" y="1939400"/>
            <a:ext cx="400000" cy="4000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0" name="card0"/>
          <p:cNvSpPr/>
          <p:nvPr/>
        </p:nvSpPr>
        <p:spPr>
          <a:xfrm>
            <a:off x="362230" y="25680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4F46E5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4F46E5"/>
                </a:solidFill>
              </a:rPr>
              <a:t>Orchestrator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Coordinates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all agents</a:t>
            </a:r>
          </a:p>
        </p:txBody>
      </p:sp>
      <p:sp>
        <p:nvSpPr>
          <p:cNvPr id="51" name="arr1"/>
          <p:cNvSpPr txBox="1"/>
          <p:nvPr/>
        </p:nvSpPr>
        <p:spPr>
          <a:xfrm>
            <a:off x="3434492" y="3168800"/>
            <a:ext cx="168600" cy="36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1" name="num1"/>
          <p:cNvSpPr/>
          <p:nvPr/>
        </p:nvSpPr>
        <p:spPr>
          <a:xfrm>
            <a:off x="2476830" y="1938000"/>
            <a:ext cx="400000" cy="40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1" name="card1"/>
          <p:cNvSpPr/>
          <p:nvPr/>
        </p:nvSpPr>
        <p:spPr>
          <a:xfrm>
            <a:off x="2105330" y="25680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7C3AED"/>
                </a:solidFill>
              </a:rPr>
              <a:t>Schema Agent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Fetches table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schema</a:t>
            </a:r>
          </a:p>
        </p:txBody>
      </p:sp>
      <p:sp>
        <p:nvSpPr>
          <p:cNvPr id="52" name="arr2"/>
          <p:cNvSpPr txBox="1"/>
          <p:nvPr/>
        </p:nvSpPr>
        <p:spPr>
          <a:xfrm>
            <a:off x="5277408" y="3189000"/>
            <a:ext cx="168600" cy="36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2" name="num2"/>
          <p:cNvSpPr/>
          <p:nvPr/>
        </p:nvSpPr>
        <p:spPr>
          <a:xfrm>
            <a:off x="4219930" y="1945400"/>
            <a:ext cx="400000" cy="400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2" name="card2"/>
          <p:cNvSpPr/>
          <p:nvPr/>
        </p:nvSpPr>
        <p:spPr>
          <a:xfrm>
            <a:off x="3848430" y="25680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NL-SQL Agent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Gemini query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generation</a:t>
            </a:r>
          </a:p>
        </p:txBody>
      </p:sp>
      <p:sp>
        <p:nvSpPr>
          <p:cNvPr id="53" name="arr3"/>
          <p:cNvSpPr txBox="1"/>
          <p:nvPr/>
        </p:nvSpPr>
        <p:spPr>
          <a:xfrm>
            <a:off x="6975020" y="3116160"/>
            <a:ext cx="168600" cy="36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3" name="num3"/>
          <p:cNvSpPr/>
          <p:nvPr/>
        </p:nvSpPr>
        <p:spPr>
          <a:xfrm>
            <a:off x="5963030" y="1981280"/>
            <a:ext cx="400000" cy="400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3" name="card3"/>
          <p:cNvSpPr/>
          <p:nvPr/>
        </p:nvSpPr>
        <p:spPr>
          <a:xfrm>
            <a:off x="5591530" y="25680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DC2626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Safety Agent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SQL Guard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validation</a:t>
            </a:r>
          </a:p>
        </p:txBody>
      </p:sp>
      <p:sp>
        <p:nvSpPr>
          <p:cNvPr id="54" name="arr4"/>
          <p:cNvSpPr txBox="1"/>
          <p:nvPr/>
        </p:nvSpPr>
        <p:spPr>
          <a:xfrm>
            <a:off x="8724388" y="3108960"/>
            <a:ext cx="168600" cy="36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4" name="num4"/>
          <p:cNvSpPr/>
          <p:nvPr/>
        </p:nvSpPr>
        <p:spPr>
          <a:xfrm>
            <a:off x="7706130" y="2000480"/>
            <a:ext cx="400000" cy="400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4" name="card4"/>
          <p:cNvSpPr/>
          <p:nvPr/>
        </p:nvSpPr>
        <p:spPr>
          <a:xfrm>
            <a:off x="7330260" y="25680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59669"/>
                </a:solidFill>
              </a:rPr>
              <a:t>Execution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Runs query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on database</a:t>
            </a:r>
          </a:p>
        </p:txBody>
      </p:sp>
      <p:sp>
        <p:nvSpPr>
          <p:cNvPr id="55" name="arr5"/>
          <p:cNvSpPr txBox="1"/>
          <p:nvPr/>
        </p:nvSpPr>
        <p:spPr>
          <a:xfrm>
            <a:off x="10387992" y="3116160"/>
            <a:ext cx="168600" cy="3600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5" name="num5"/>
          <p:cNvSpPr/>
          <p:nvPr/>
        </p:nvSpPr>
        <p:spPr>
          <a:xfrm>
            <a:off x="9440490" y="2000480"/>
            <a:ext cx="400000" cy="40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5" name="card5"/>
          <p:cNvSpPr/>
          <p:nvPr/>
        </p:nvSpPr>
        <p:spPr>
          <a:xfrm>
            <a:off x="9068990" y="25680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D97706"/>
                </a:solidFill>
              </a:rPr>
              <a:t>Visualization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Chart type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selection</a:t>
            </a:r>
          </a:p>
        </p:txBody>
      </p:sp>
      <p:sp>
        <p:nvSpPr>
          <p:cNvPr id="66" name="num6"/>
          <p:cNvSpPr/>
          <p:nvPr/>
        </p:nvSpPr>
        <p:spPr>
          <a:xfrm>
            <a:off x="11108215" y="2000480"/>
            <a:ext cx="400000" cy="40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76" name="card6"/>
          <p:cNvSpPr/>
          <p:nvPr/>
        </p:nvSpPr>
        <p:spPr>
          <a:xfrm>
            <a:off x="10736715" y="2560800"/>
            <a:ext cx="1143000" cy="160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txBody>
          <a:bodyPr lIns="76200" rIns="762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Insight Agent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Gemini result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summary</a:t>
            </a:r>
          </a:p>
        </p:txBody>
      </p:sp>
      <p:sp>
        <p:nvSpPr>
          <p:cNvPr id="80" name="info0"/>
          <p:cNvSpPr/>
          <p:nvPr/>
        </p:nvSpPr>
        <p:spPr>
          <a:xfrm>
            <a:off x="666492" y="5103960"/>
            <a:ext cx="2742000" cy="76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4F46E5"/>
            </a:solidFill>
          </a:ln>
        </p:spPr>
        <p:txBody>
          <a:bodyPr lIns="152400" rIns="152400" anchor="ctr"/>
          <a:lstStyle/>
          <a:p>
            <a:pPr>
              <a:buNone/>
            </a:pPr>
            <a:r>
              <a:rPr lang="en-US" sz="1400" b="1" dirty="0">
                <a:solidFill>
                  <a:srgbClr val="4F46E5"/>
                </a:solidFill>
              </a:rPr>
              <a:t>AgentState  </a:t>
            </a:r>
            <a:r>
              <a:rPr lang="en-US" sz="1300" dirty="0">
                <a:solidFill>
                  <a:srgbClr val="475569"/>
                </a:solidFill>
              </a:rPr>
              <a:t>Shared dataclass carries data between all agents  no direct agent-to-agent calls</a:t>
            </a:r>
          </a:p>
        </p:txBody>
      </p:sp>
      <p:sp>
        <p:nvSpPr>
          <p:cNvPr id="81" name="info1"/>
          <p:cNvSpPr/>
          <p:nvPr/>
        </p:nvSpPr>
        <p:spPr>
          <a:xfrm>
            <a:off x="4516353" y="5103960"/>
            <a:ext cx="2742000" cy="76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</a:ln>
        </p:spPr>
        <p:txBody>
          <a:bodyPr lIns="152400" rIns="152400" anchor="ctr"/>
          <a:lstStyle/>
          <a:p>
            <a:pPr>
              <a:buNone/>
            </a:pPr>
            <a:r>
              <a:rPr lang="en-US" sz="1400" b="1" dirty="0">
                <a:solidFill>
                  <a:srgbClr val="7C3AED"/>
                </a:solidFill>
              </a:rPr>
              <a:t>ReAct Loop  </a:t>
            </a:r>
            <a:r>
              <a:rPr lang="en-US" sz="1300" dirty="0">
                <a:solidFill>
                  <a:srgbClr val="475569"/>
                </a:solidFill>
              </a:rPr>
              <a:t>NL-SQL Agent retries up to 3x with error feedback on execution failures</a:t>
            </a:r>
          </a:p>
        </p:txBody>
      </p:sp>
      <p:sp>
        <p:nvSpPr>
          <p:cNvPr id="82" name="info2"/>
          <p:cNvSpPr/>
          <p:nvPr/>
        </p:nvSpPr>
        <p:spPr>
          <a:xfrm>
            <a:off x="8366215" y="5103960"/>
            <a:ext cx="2742000" cy="76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txBody>
          <a:bodyPr lIns="152400" rIns="152400" anchor="ctr"/>
          <a:lstStyle/>
          <a:p>
            <a:pPr>
              <a:buNone/>
            </a:pPr>
            <a:r>
              <a:rPr lang="en-US" sz="1400" b="1" dirty="0">
                <a:solidFill>
                  <a:srgbClr val="059669"/>
                </a:solidFill>
              </a:rPr>
              <a:t>Parallel (L3)  </a:t>
            </a:r>
            <a:r>
              <a:rPr lang="en-US" sz="1300" dirty="0">
                <a:solidFill>
                  <a:srgbClr val="475569"/>
                </a:solidFill>
              </a:rPr>
              <a:t>Schema first, then SQL + Safety + Insight run concurrently via asyncio.gather()</a:t>
            </a:r>
          </a:p>
        </p:txBody>
      </p:sp>
    </p:spTree>
    <p:extLst>
      <p:ext uri="{BB962C8B-B14F-4D97-AF65-F5344CB8AC3E}">
        <p14:creationId xmlns:p14="http://schemas.microsoft.com/office/powerpoint/2010/main" val="13897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"/>
          <p:cNvSpPr/>
          <p:nvPr/>
        </p:nvSpPr>
        <p:spPr>
          <a:xfrm>
            <a:off x="45660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Three-Level Agent Architecture</a:t>
            </a:r>
          </a:p>
        </p:txBody>
      </p:sp>
      <p:sp>
        <p:nvSpPr>
          <p:cNvPr id="10" name="badge0"/>
          <p:cNvSpPr/>
          <p:nvPr/>
        </p:nvSpPr>
        <p:spPr>
          <a:xfrm>
            <a:off x="918280" y="1070640"/>
            <a:ext cx="27420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</a:t>
            </a:r>
          </a:p>
        </p:txBody>
      </p:sp>
      <p:sp>
        <p:nvSpPr>
          <p:cNvPr id="11" name="hdr0"/>
          <p:cNvSpPr/>
          <p:nvPr/>
        </p:nvSpPr>
        <p:spPr>
          <a:xfrm>
            <a:off x="918280" y="1427040"/>
            <a:ext cx="2742000" cy="75552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800" b="1" dirty="0">
                <a:solidFill>
                  <a:srgbClr val="2563EB"/>
                </a:solidFill>
              </a:rPr>
              <a:t>L1</a:t>
            </a:r>
          </a:p>
          <a:p>
            <a:pPr algn="ctr">
              <a:buNone/>
            </a:pPr>
            <a:r>
              <a:rPr lang="en-US" sz="1500" dirty="0">
                <a:solidFill>
                  <a:srgbClr val="374151"/>
                </a:solidFill>
              </a:rPr>
              <a:t>Basic Agent</a:t>
            </a:r>
          </a:p>
        </p:txBody>
      </p:sp>
      <p:sp>
        <p:nvSpPr>
          <p:cNvPr id="12" name="feats0"/>
          <p:cNvSpPr/>
          <p:nvPr/>
        </p:nvSpPr>
        <p:spPr>
          <a:xfrm>
            <a:off x="918280" y="2182560"/>
            <a:ext cx="2742000" cy="33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txBody>
          <a:bodyPr lIns="228600" tIns="228600" rIns="228600" anchor="t"/>
          <a:lstStyle/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Linear 5-stage pipeline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Single Gemini API call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Schema → SQL → Guard → Execute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No retry logic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Best for: simple queries</a:t>
            </a:r>
          </a:p>
        </p:txBody>
      </p:sp>
      <p:sp>
        <p:nvSpPr>
          <p:cNvPr id="13" name="time0"/>
          <p:cNvSpPr txBox="1"/>
          <p:nvPr/>
        </p:nvSpPr>
        <p:spPr>
          <a:xfrm>
            <a:off x="918280" y="5570160"/>
            <a:ext cx="274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Avg: ~2–3s</a:t>
            </a:r>
          </a:p>
        </p:txBody>
      </p:sp>
      <p:sp>
        <p:nvSpPr>
          <p:cNvPr id="20" name="badge1"/>
          <p:cNvSpPr/>
          <p:nvPr/>
        </p:nvSpPr>
        <p:spPr>
          <a:xfrm>
            <a:off x="4666720" y="1070640"/>
            <a:ext cx="2742000" cy="3048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SELF-CORRECTING</a:t>
            </a:r>
          </a:p>
        </p:txBody>
      </p:sp>
      <p:sp>
        <p:nvSpPr>
          <p:cNvPr id="21" name="hdr1"/>
          <p:cNvSpPr/>
          <p:nvPr/>
        </p:nvSpPr>
        <p:spPr>
          <a:xfrm>
            <a:off x="4666720" y="1427040"/>
            <a:ext cx="2742000" cy="755520"/>
          </a:xfrm>
          <a:prstGeom prst="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L2</a:t>
            </a:r>
          </a:p>
          <a:p>
            <a:pPr algn="ctr">
              <a:buNone/>
            </a:pPr>
            <a:r>
              <a:rPr lang="en-US" sz="1500" dirty="0">
                <a:solidFill>
                  <a:srgbClr val="374151"/>
                </a:solidFill>
              </a:rPr>
              <a:t>ReAct Agent</a:t>
            </a:r>
          </a:p>
        </p:txBody>
      </p:sp>
      <p:sp>
        <p:nvSpPr>
          <p:cNvPr id="22" name="feats1"/>
          <p:cNvSpPr/>
          <p:nvPr/>
        </p:nvSpPr>
        <p:spPr>
          <a:xfrm>
            <a:off x="4666720" y="2182560"/>
            <a:ext cx="2742000" cy="33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DD6FE"/>
            </a:solidFill>
          </a:ln>
        </p:spPr>
        <p:txBody>
          <a:bodyPr lIns="228600" tIns="228600" rIns="228600" anchor="t"/>
          <a:lstStyle/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Think–Act–Observe loop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Up to 3 retry attempts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Error message fed back to Gemini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Full trace shown in UI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Best for: multi-table queries</a:t>
            </a:r>
          </a:p>
        </p:txBody>
      </p:sp>
      <p:sp>
        <p:nvSpPr>
          <p:cNvPr id="23" name="time1"/>
          <p:cNvSpPr txBox="1"/>
          <p:nvPr/>
        </p:nvSpPr>
        <p:spPr>
          <a:xfrm>
            <a:off x="4788640" y="5482560"/>
            <a:ext cx="274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Avg: ~8–36s</a:t>
            </a:r>
          </a:p>
        </p:txBody>
      </p:sp>
      <p:sp>
        <p:nvSpPr>
          <p:cNvPr id="30" name="badge2"/>
          <p:cNvSpPr/>
          <p:nvPr/>
        </p:nvSpPr>
        <p:spPr>
          <a:xfrm>
            <a:off x="8415160" y="1070640"/>
            <a:ext cx="2742000" cy="3048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PARALLEL</a:t>
            </a:r>
          </a:p>
        </p:txBody>
      </p:sp>
      <p:sp>
        <p:nvSpPr>
          <p:cNvPr id="31" name="hdr2"/>
          <p:cNvSpPr/>
          <p:nvPr/>
        </p:nvSpPr>
        <p:spPr>
          <a:xfrm>
            <a:off x="8415160" y="1427040"/>
            <a:ext cx="2742000" cy="7555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800" b="1" dirty="0">
                <a:solidFill>
                  <a:srgbClr val="059669"/>
                </a:solidFill>
              </a:rPr>
              <a:t>L3</a:t>
            </a:r>
          </a:p>
          <a:p>
            <a:pPr algn="ctr">
              <a:buNone/>
            </a:pPr>
            <a:r>
              <a:rPr lang="en-US" sz="1500" dirty="0">
                <a:solidFill>
                  <a:srgbClr val="374151"/>
                </a:solidFill>
              </a:rPr>
              <a:t>Swarm Agent</a:t>
            </a:r>
          </a:p>
        </p:txBody>
      </p:sp>
      <p:sp>
        <p:nvSpPr>
          <p:cNvPr id="32" name="feats2"/>
          <p:cNvSpPr/>
          <p:nvPr/>
        </p:nvSpPr>
        <p:spPr>
          <a:xfrm>
            <a:off x="8415160" y="2182560"/>
            <a:ext cx="2742000" cy="33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A7F3D0"/>
            </a:solidFill>
          </a:ln>
        </p:spPr>
        <p:txBody>
          <a:bodyPr lIns="228600" tIns="228600" rIns="228600" anchor="t"/>
          <a:lstStyle/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4 agents via asyncio.gather()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Schema → then SQL + Safety + Insight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L2 ReAct inside SQL Agent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Executive Summary + Key Insights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Best for: business analytics</a:t>
            </a:r>
          </a:p>
        </p:txBody>
      </p:sp>
      <p:sp>
        <p:nvSpPr>
          <p:cNvPr id="33" name="time2"/>
          <p:cNvSpPr txBox="1"/>
          <p:nvPr/>
        </p:nvSpPr>
        <p:spPr>
          <a:xfrm>
            <a:off x="8415160" y="5482560"/>
            <a:ext cx="274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500" b="1" dirty="0">
                <a:solidFill>
                  <a:srgbClr val="059669"/>
                </a:solidFill>
              </a:rPr>
              <a:t>Avg: ~38–52s</a:t>
            </a:r>
          </a:p>
        </p:txBody>
      </p:sp>
    </p:spTree>
    <p:extLst>
      <p:ext uri="{BB962C8B-B14F-4D97-AF65-F5344CB8AC3E}">
        <p14:creationId xmlns:p14="http://schemas.microsoft.com/office/powerpoint/2010/main" val="163909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Security Architecture - Defense in Depth</a:t>
            </a:r>
          </a:p>
        </p:txBody>
      </p:sp>
      <p:sp>
        <p:nvSpPr>
          <p:cNvPr id="10" name="card0"/>
          <p:cNvSpPr/>
          <p:nvPr/>
        </p:nvSpPr>
        <p:spPr>
          <a:xfrm>
            <a:off x="1376680" y="1458780"/>
            <a:ext cx="4300000" cy="184912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2563EB"/>
                </a:solidFill>
              </a:rPr>
              <a:t>🔐  JWT Authentication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OAuth2 Password Bearer standard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JWT stored in localStorage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Axios interceptor injects token on every request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401 response → automatic logout + redirect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All routes except login/register protected</a:t>
            </a:r>
          </a:p>
        </p:txBody>
      </p:sp>
      <p:sp>
        <p:nvSpPr>
          <p:cNvPr id="11" name="card1"/>
          <p:cNvSpPr/>
          <p:nvPr/>
        </p:nvSpPr>
        <p:spPr>
          <a:xfrm>
            <a:off x="6764600" y="1554480"/>
            <a:ext cx="4300000" cy="1725520"/>
          </a:xfrm>
          <a:prstGeom prst="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7C3AED"/>
                </a:solidFill>
              </a:rPr>
              <a:t>🔒  Fernet AES-256 Encryption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Symmetric authenticated encryption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Database credentials encrypted before storage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Decrypted only at query execution time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Never logged or returned to frontend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Tamper detection via HMAC-SHA256</a:t>
            </a:r>
          </a:p>
        </p:txBody>
      </p:sp>
      <p:sp>
        <p:nvSpPr>
          <p:cNvPr id="12" name="card2"/>
          <p:cNvSpPr/>
          <p:nvPr/>
        </p:nvSpPr>
        <p:spPr>
          <a:xfrm>
            <a:off x="1376680" y="3677920"/>
            <a:ext cx="4300000" cy="1849120"/>
          </a:xfrm>
          <a:prstGeom prst="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DC2626"/>
                </a:solidFill>
              </a:rPr>
              <a:t>🛡️  SQL Guard Module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Strips markdown fences from Gemini output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Blocks: DROP INSERT UPDATE DELETE TRUNCATE ALTER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Word-boundary regex (not substring match)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String literals removed before keyword scan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Appends LIMIT 100 if missing → HTTP 422 on fail</a:t>
            </a:r>
          </a:p>
        </p:txBody>
      </p:sp>
      <p:sp>
        <p:nvSpPr>
          <p:cNvPr id="13" name="card3"/>
          <p:cNvSpPr/>
          <p:nvPr/>
        </p:nvSpPr>
        <p:spPr>
          <a:xfrm>
            <a:off x="6764600" y="3677920"/>
            <a:ext cx="4300000" cy="1849120"/>
          </a:xfrm>
          <a:prstGeom prst="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600" b="1" dirty="0">
                <a:solidFill>
                  <a:srgbClr val="059669"/>
                </a:solidFill>
              </a:rPr>
              <a:t>🔑  bcrypt + SQL Injection Prevention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bcrypt work factor 12 for password hashing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Plain-text passwords never stored or logged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7/7 SQL injection test cases blocked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Word-boundary matching prevents false positives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5/5 auth security test cases passed</a:t>
            </a:r>
          </a:p>
        </p:txBody>
      </p:sp>
      <p:sp>
        <p:nvSpPr>
          <p:cNvPr id="20" name="stats"/>
          <p:cNvSpPr/>
          <p:nvPr/>
        </p:nvSpPr>
        <p:spPr>
          <a:xfrm>
            <a:off x="228600" y="6000000"/>
            <a:ext cx="11699240" cy="61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lIns="2286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Test Results: </a:t>
            </a:r>
            <a:r>
              <a:rPr lang="en-US" sz="1400" dirty="0">
                <a:solidFill>
                  <a:srgbClr val="374151"/>
                </a:solidFill>
              </a:rPr>
              <a:t>SQL Guard 24/24 (100%)  •  Fernet 8/8 (100%)  •  Auth 14/14 (100%)  •  SQL Injection 7/7 (100%)  •  Fernet Verify 6/6 (100%)</a:t>
            </a:r>
          </a:p>
        </p:txBody>
      </p:sp>
    </p:spTree>
    <p:extLst>
      <p:ext uri="{BB962C8B-B14F-4D97-AF65-F5344CB8AC3E}">
        <p14:creationId xmlns:p14="http://schemas.microsoft.com/office/powerpoint/2010/main" val="191935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KDD Cup 2026 - </a:t>
            </a:r>
            <a:r>
              <a:rPr lang="en-US" sz="2400" b="1" dirty="0" err="1">
                <a:solidFill>
                  <a:srgbClr val="FFFFFF"/>
                </a:solidFill>
              </a:rPr>
              <a:t>DataAgent</a:t>
            </a:r>
            <a:r>
              <a:rPr lang="en-US" sz="2400" b="1" dirty="0">
                <a:solidFill>
                  <a:srgbClr val="FFFFFF"/>
                </a:solidFill>
              </a:rPr>
              <a:t>-Bench Phase 1 Results</a:t>
            </a:r>
          </a:p>
        </p:txBody>
      </p:sp>
      <p:sp>
        <p:nvSpPr>
          <p:cNvPr id="20" name="box0"/>
          <p:cNvSpPr/>
          <p:nvPr/>
        </p:nvSpPr>
        <p:spPr>
          <a:xfrm>
            <a:off x="8805120" y="1274400"/>
            <a:ext cx="2700000" cy="1418000"/>
          </a:xfrm>
          <a:prstGeom prst="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400" b="1" dirty="0">
                <a:solidFill>
                  <a:srgbClr val="374151"/>
                </a:solidFill>
              </a:rPr>
              <a:t>Accuracy Improvement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6B7280"/>
                </a:solidFill>
              </a:rPr>
              <a:t>36-point gain through systematic failure analysis and targeted prompt engineering</a:t>
            </a:r>
          </a:p>
        </p:txBody>
      </p:sp>
      <p:sp>
        <p:nvSpPr>
          <p:cNvPr id="21" name="box1"/>
          <p:cNvSpPr/>
          <p:nvPr/>
        </p:nvSpPr>
        <p:spPr>
          <a:xfrm>
            <a:off x="8805120" y="2940640"/>
            <a:ext cx="2700000" cy="1418000"/>
          </a:xfrm>
          <a:prstGeom prst="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400" b="1" dirty="0" err="1">
                <a:solidFill>
                  <a:srgbClr val="374151"/>
                </a:solidFill>
              </a:rPr>
              <a:t>ReAct</a:t>
            </a:r>
            <a:r>
              <a:rPr lang="en-US" sz="1400" b="1" dirty="0">
                <a:solidFill>
                  <a:srgbClr val="374151"/>
                </a:solidFill>
              </a:rPr>
              <a:t> Loop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6B7280"/>
                </a:solidFill>
              </a:rPr>
              <a:t>9 tasks that would fail at L1 passed at L2  directly quantifies self-correction value</a:t>
            </a:r>
          </a:p>
        </p:txBody>
      </p:sp>
      <p:sp>
        <p:nvSpPr>
          <p:cNvPr id="22" name="box2"/>
          <p:cNvSpPr/>
          <p:nvPr/>
        </p:nvSpPr>
        <p:spPr>
          <a:xfrm>
            <a:off x="8805120" y="4758197"/>
            <a:ext cx="2700000" cy="1418000"/>
          </a:xfrm>
          <a:prstGeom prst="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400" b="1" dirty="0">
                <a:solidFill>
                  <a:srgbClr val="374151"/>
                </a:solidFill>
              </a:rPr>
              <a:t>Per Task Response Time</a:t>
            </a:r>
          </a:p>
          <a:p>
            <a:pPr>
              <a:buNone/>
            </a:pPr>
            <a:r>
              <a:rPr lang="en-US" sz="6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6B7280"/>
                </a:solidFill>
              </a:rPr>
              <a:t>Easy 8.2s • Medium 10.1s • Hard 13.4s • Extreme 16.8s - scales with complexity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BA07E-B9B5-3A36-042F-0AC834F8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1833924"/>
            <a:ext cx="7437120" cy="398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00" tIns="152400" rIns="152400" anchor="t"/>
          <a:lstStyle/>
          <a:p>
            <a:endParaRPr/>
          </a:p>
        </p:txBody>
      </p:sp>
      <p:sp>
        <p:nvSpPr>
          <p:cNvPr id="2" name="top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Query Interface &amp; Results Panel</a:t>
            </a:r>
          </a:p>
        </p:txBody>
      </p:sp>
      <p:sp>
        <p:nvSpPr>
          <p:cNvPr id="10" name="tab0"/>
          <p:cNvSpPr/>
          <p:nvPr/>
        </p:nvSpPr>
        <p:spPr>
          <a:xfrm>
            <a:off x="740410" y="1719380"/>
            <a:ext cx="1371600" cy="34290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1" name="tab1"/>
          <p:cNvSpPr/>
          <p:nvPr/>
        </p:nvSpPr>
        <p:spPr>
          <a:xfrm>
            <a:off x="2457450" y="1719380"/>
            <a:ext cx="1371600" cy="34290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Charts</a:t>
            </a:r>
          </a:p>
        </p:txBody>
      </p:sp>
      <p:sp>
        <p:nvSpPr>
          <p:cNvPr id="12" name="tab2"/>
          <p:cNvSpPr/>
          <p:nvPr/>
        </p:nvSpPr>
        <p:spPr>
          <a:xfrm>
            <a:off x="4245610" y="1757330"/>
            <a:ext cx="1371600" cy="3429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EDA Profile</a:t>
            </a:r>
          </a:p>
        </p:txBody>
      </p:sp>
      <p:sp>
        <p:nvSpPr>
          <p:cNvPr id="13" name="tab3"/>
          <p:cNvSpPr/>
          <p:nvPr/>
        </p:nvSpPr>
        <p:spPr>
          <a:xfrm>
            <a:off x="6090285" y="1757330"/>
            <a:ext cx="1371600" cy="34290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UI</a:t>
            </a:r>
          </a:p>
        </p:txBody>
      </p:sp>
      <p:sp>
        <p:nvSpPr>
          <p:cNvPr id="14" name="tab4"/>
          <p:cNvSpPr/>
          <p:nvPr/>
        </p:nvSpPr>
        <p:spPr>
          <a:xfrm>
            <a:off x="7980680" y="1757330"/>
            <a:ext cx="1371600" cy="3429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Functions</a:t>
            </a:r>
          </a:p>
        </p:txBody>
      </p:sp>
      <p:sp>
        <p:nvSpPr>
          <p:cNvPr id="15" name="tab5"/>
          <p:cNvSpPr/>
          <p:nvPr/>
        </p:nvSpPr>
        <p:spPr>
          <a:xfrm>
            <a:off x="9933305" y="1757330"/>
            <a:ext cx="1371600" cy="34290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Trace</a:t>
            </a:r>
          </a:p>
        </p:txBody>
      </p:sp>
      <p:sp>
        <p:nvSpPr>
          <p:cNvPr id="20" name="card0"/>
          <p:cNvSpPr/>
          <p:nvPr/>
        </p:nvSpPr>
        <p:spPr>
          <a:xfrm>
            <a:off x="740410" y="2295920"/>
            <a:ext cx="1371600" cy="22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4F46E5"/>
                </a:solidFill>
              </a:rPr>
              <a:t>Table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Sortable data grid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Generated SQL disclosure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Copy SQL button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Row + column count</a:t>
            </a:r>
          </a:p>
        </p:txBody>
      </p:sp>
      <p:sp>
        <p:nvSpPr>
          <p:cNvPr id="21" name="card1"/>
          <p:cNvSpPr/>
          <p:nvPr/>
        </p:nvSpPr>
        <p:spPr>
          <a:xfrm>
            <a:off x="2457450" y="2295920"/>
            <a:ext cx="1371600" cy="22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059669"/>
                </a:solidFill>
              </a:rPr>
              <a:t>Charts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Bar, Line, Pie, Treemap collage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X/Y axis selectors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Summary statistics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Responsive containers</a:t>
            </a:r>
          </a:p>
        </p:txBody>
      </p:sp>
      <p:sp>
        <p:nvSpPr>
          <p:cNvPr id="22" name="card2"/>
          <p:cNvSpPr/>
          <p:nvPr/>
        </p:nvSpPr>
        <p:spPr>
          <a:xfrm>
            <a:off x="4245610" y="2295920"/>
            <a:ext cx="1371600" cy="22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7C3AED"/>
                </a:solidFill>
              </a:rPr>
              <a:t>EDA Profile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Gemini headline insight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Data quality score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Per-column statistics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Null % + distribution</a:t>
            </a:r>
          </a:p>
        </p:txBody>
      </p:sp>
      <p:sp>
        <p:nvSpPr>
          <p:cNvPr id="23" name="card3"/>
          <p:cNvSpPr/>
          <p:nvPr/>
        </p:nvSpPr>
        <p:spPr>
          <a:xfrm>
            <a:off x="6096000" y="2295920"/>
            <a:ext cx="1371600" cy="22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D97706"/>
                </a:solidFill>
              </a:rPr>
              <a:t>Live UI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5-template Generative UI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Sandboxed iframe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Real data injected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Regenerate button</a:t>
            </a:r>
          </a:p>
        </p:txBody>
      </p:sp>
      <p:sp>
        <p:nvSpPr>
          <p:cNvPr id="24" name="card4"/>
          <p:cNvSpPr/>
          <p:nvPr/>
        </p:nvSpPr>
        <p:spPr>
          <a:xfrm>
            <a:off x="8011795" y="2295720"/>
            <a:ext cx="1371600" cy="22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AI Functions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ai.generate per-row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ai.if boolean filter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ai.rank semantic sort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Highlighted new columns</a:t>
            </a:r>
          </a:p>
        </p:txBody>
      </p:sp>
      <p:sp>
        <p:nvSpPr>
          <p:cNvPr id="25" name="card5"/>
          <p:cNvSpPr/>
          <p:nvPr/>
        </p:nvSpPr>
        <p:spPr>
          <a:xfrm>
            <a:off x="9933305" y="2295920"/>
            <a:ext cx="1469390" cy="2266160"/>
          </a:xfrm>
          <a:prstGeom prst="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ReAct Trace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Think–Act–Observe steps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Attempt counter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Error messages shown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Full reasoning log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228600" y="4805680"/>
            <a:ext cx="11150600" cy="159432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b="1" dirty="0">
                <a:solidFill>
                  <a:srgbClr val="4F46E5"/>
                </a:solidFill>
              </a:rPr>
              <a:t>Chat-style conversation history preserves all results in the session - ask multiple questions and scroll back</a:t>
            </a:r>
          </a:p>
          <a:p>
            <a:pPr algn="ctr">
              <a:buNone/>
            </a:pPr>
            <a:endParaRPr lang="en-US" sz="1600" b="1" dirty="0">
              <a:solidFill>
                <a:srgbClr val="4F46E5"/>
              </a:solidFill>
            </a:endParaRPr>
          </a:p>
          <a:p>
            <a:pPr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Left panel: connection selector + table checkboxes + suggestion chips  |  Right panel: scrollable result cards</a:t>
            </a:r>
          </a:p>
        </p:txBody>
      </p:sp>
    </p:spTree>
    <p:extLst>
      <p:ext uri="{BB962C8B-B14F-4D97-AF65-F5344CB8AC3E}">
        <p14:creationId xmlns:p14="http://schemas.microsoft.com/office/powerpoint/2010/main" val="2139357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2400" tIns="152400" rIns="152400" anchor="t"/>
          <a:lstStyle/>
          <a:p>
            <a:endParaRPr/>
          </a:p>
        </p:txBody>
      </p:sp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AlloyDB AI Function Simulation</a:t>
            </a:r>
          </a:p>
        </p:txBody>
      </p:sp>
      <p:sp>
        <p:nvSpPr>
          <p:cNvPr id="3" name="sub"/>
          <p:cNvSpPr txBox="1"/>
          <p:nvPr/>
        </p:nvSpPr>
        <p:spPr>
          <a:xfrm>
            <a:off x="228600" y="762000"/>
            <a:ext cx="1168908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Simulates Google AlloyDB native AI functions on standard PostgreSQL - no AlloyDB cloud required</a:t>
            </a:r>
          </a:p>
        </p:txBody>
      </p:sp>
      <p:sp>
        <p:nvSpPr>
          <p:cNvPr id="10" name="card0"/>
          <p:cNvSpPr/>
          <p:nvPr/>
        </p:nvSpPr>
        <p:spPr>
          <a:xfrm>
            <a:off x="775970" y="1396000"/>
            <a:ext cx="2781600" cy="399699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2000" b="1" dirty="0">
                <a:solidFill>
                  <a:srgbClr val="4F46E5"/>
                </a:solidFill>
              </a:rPr>
              <a:t>ai.generate</a:t>
            </a:r>
          </a:p>
          <a:p>
            <a:pPr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Row-level AI enrichment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E293B"/>
                </a:solidFill>
              </a:rPr>
              <a:t>How it works: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One Gemini call per row. Appends a new AI-generated column to every row.</a:t>
            </a:r>
            <a:endParaRPr lang="en-US" sz="1000" dirty="0"/>
          </a:p>
          <a:p>
            <a:pPr>
              <a:buNone/>
            </a:pPr>
            <a:r>
              <a:rPr lang="en-US" sz="1400" b="1" dirty="0">
                <a:solidFill>
                  <a:srgbClr val="1E293B"/>
                </a:solidFill>
              </a:rPr>
              <a:t>Example: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Prompt: "Classify region as High/Medium/Low performer with reason"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4F46E5"/>
                </a:solidFill>
              </a:rPr>
              <a:t>Result:</a:t>
            </a:r>
          </a:p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ai_insight column added: Asia Pacific → High ($17,328.76)</a:t>
            </a:r>
          </a:p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South America → Low ($948.99)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94A3B8"/>
                </a:solidFill>
              </a:rPr>
              <a:t>100 rows max · Map pattern - fail-open</a:t>
            </a:r>
          </a:p>
        </p:txBody>
      </p:sp>
      <p:sp>
        <p:nvSpPr>
          <p:cNvPr id="20" name="card1"/>
          <p:cNvSpPr/>
          <p:nvPr/>
        </p:nvSpPr>
        <p:spPr>
          <a:xfrm>
            <a:off x="4572000" y="1396000"/>
            <a:ext cx="2781600" cy="399699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2000" b="1" dirty="0">
                <a:solidFill>
                  <a:srgbClr val="059669"/>
                </a:solidFill>
              </a:rPr>
              <a:t>ai.if</a:t>
            </a:r>
          </a:p>
          <a:p>
            <a:pPr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Row-level boolean filter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E293B"/>
                </a:solidFill>
              </a:rPr>
              <a:t>How it works: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One Gemini call per row. Returns only rows where the condition evaluates to true.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E293B"/>
                </a:solidFill>
              </a:rPr>
              <a:t>Example: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Condition: "Is total revenue greater than 5000?"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059669"/>
                </a:solidFill>
              </a:rPr>
              <a:t>Result:</a:t>
            </a:r>
          </a:p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2 rows returned: Asia Pacific ($17,328.76) and North America ($6,445.82)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94A3B8"/>
                </a:solidFill>
              </a:rPr>
              <a:t>200 rows max · Filter pattern - fail-open</a:t>
            </a:r>
          </a:p>
        </p:txBody>
      </p:sp>
      <p:sp>
        <p:nvSpPr>
          <p:cNvPr id="30" name="card2"/>
          <p:cNvSpPr/>
          <p:nvPr/>
        </p:nvSpPr>
        <p:spPr>
          <a:xfrm>
            <a:off x="8274650" y="1412810"/>
            <a:ext cx="2781600" cy="398018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txBody>
          <a:bodyPr lIns="152400" tIns="152400" rIns="152400" anchor="t"/>
          <a:lstStyle/>
          <a:p>
            <a:pPr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ai.rank</a:t>
            </a:r>
          </a:p>
          <a:p>
            <a:pPr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Global semantic reordering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E293B"/>
                </a:solidFill>
              </a:rPr>
              <a:t>How it works: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Single Gemini call with all rows. Returns index array for reordering.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1E293B"/>
                </a:solidFill>
              </a:rPr>
              <a:t>Example: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Criteria: "Rank regions needing most business attention"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400" b="1" dirty="0">
                <a:solidFill>
                  <a:srgbClr val="7C3AED"/>
                </a:solidFill>
              </a:rPr>
              <a:t>Result:</a:t>
            </a:r>
          </a:p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South America → 1st, Europe → 2nd (low revenue = high attention needed)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94A3B8"/>
                </a:solidFill>
              </a:rPr>
              <a:t>50 rows max · Sort pattern - unranked appended</a:t>
            </a:r>
          </a:p>
        </p:txBody>
      </p:sp>
      <p:sp>
        <p:nvSpPr>
          <p:cNvPr id="50" name="bot"/>
          <p:cNvSpPr txBox="1"/>
          <p:nvPr/>
        </p:nvSpPr>
        <p:spPr>
          <a:xfrm>
            <a:off x="775970" y="6120000"/>
            <a:ext cx="1028028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b="1" dirty="0">
                <a:solidFill>
                  <a:srgbClr val="4F46E5"/>
                </a:solidFill>
              </a:rPr>
              <a:t>Inspired by Google AlloyDB AI paper (Sivakumar &amp; Lewis, 2025) — simulates in-database AI enrichment on any PostgreSQL</a:t>
            </a:r>
          </a:p>
        </p:txBody>
      </p:sp>
    </p:spTree>
    <p:extLst>
      <p:ext uri="{BB962C8B-B14F-4D97-AF65-F5344CB8AC3E}">
        <p14:creationId xmlns:p14="http://schemas.microsoft.com/office/powerpoint/2010/main" val="3299296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Template-Based Generative UI</a:t>
            </a:r>
          </a:p>
        </p:txBody>
      </p:sp>
      <p:sp>
        <p:nvSpPr>
          <p:cNvPr id="3" name="perf"/>
          <p:cNvSpPr/>
          <p:nvPr/>
        </p:nvSpPr>
        <p:spPr>
          <a:xfrm>
            <a:off x="228600" y="980450"/>
            <a:ext cx="11750040" cy="48000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txBody>
          <a:bodyPr lIns="152400" anchor="ctr"/>
          <a:lstStyle/>
          <a:p>
            <a:pPr algn="ctr">
              <a:buNone/>
            </a:pPr>
            <a:r>
              <a:rPr lang="en-US" sz="1500" b="1" dirty="0">
                <a:solidFill>
                  <a:srgbClr val="92400E"/>
                </a:solidFill>
              </a:rPr>
              <a:t>10× faster (1.9s vs 19.8s)  •  100% success rate vs 73% LLM-generated  •  93.3% template selection accuracy on 30 test cases</a:t>
            </a:r>
          </a:p>
        </p:txBody>
      </p:sp>
      <p:sp>
        <p:nvSpPr>
          <p:cNvPr id="10" name="t0"/>
          <p:cNvSpPr/>
          <p:nvPr/>
        </p:nvSpPr>
        <p:spPr>
          <a:xfrm>
            <a:off x="452120" y="1755100"/>
            <a:ext cx="1676000" cy="2000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25400">
            <a:solidFill>
              <a:srgbClr val="4F46E5"/>
            </a:solidFill>
          </a:ln>
        </p:spPr>
        <p:txBody>
          <a:bodyPr lIns="114300" tIns="152400" rIns="114300" anchor="t"/>
          <a:lstStyle/>
          <a:p>
            <a:pPr algn="ctr">
              <a:buNone/>
            </a:pPr>
            <a:r>
              <a:rPr lang="en-US" sz="2000" dirty="0">
                <a:solidFill>
                  <a:srgbClr val="4F46E5"/>
                </a:solidFill>
              </a:rPr>
              <a:t>📊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4F46E5"/>
                </a:solidFill>
              </a:rPr>
              <a:t>Dashboard</a:t>
            </a:r>
          </a:p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Categorical + numeric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14300" indent="-114300"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KPI cards, chart switcher, sortable table</a:t>
            </a:r>
          </a:p>
        </p:txBody>
      </p:sp>
      <p:sp>
        <p:nvSpPr>
          <p:cNvPr id="11" name="t1"/>
          <p:cNvSpPr/>
          <p:nvPr/>
        </p:nvSpPr>
        <p:spPr>
          <a:xfrm>
            <a:off x="2702560" y="1755100"/>
            <a:ext cx="1676000" cy="2000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txBody>
          <a:bodyPr lIns="114300" tIns="152400" rIns="114300" anchor="t"/>
          <a:lstStyle/>
          <a:p>
            <a:pPr algn="ctr">
              <a:buNone/>
            </a:pPr>
            <a:r>
              <a:rPr lang="en-US" sz="2000" dirty="0">
                <a:solidFill>
                  <a:srgbClr val="2563EB"/>
                </a:solidFill>
              </a:rPr>
              <a:t>📈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Time-Series</a:t>
            </a:r>
          </a:p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Date/time column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14300" indent="-114300"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Line chart, trend cards, series toggles</a:t>
            </a:r>
          </a:p>
        </p:txBody>
      </p:sp>
      <p:sp>
        <p:nvSpPr>
          <p:cNvPr id="12" name="t2"/>
          <p:cNvSpPr/>
          <p:nvPr/>
        </p:nvSpPr>
        <p:spPr>
          <a:xfrm>
            <a:off x="4953000" y="1755100"/>
            <a:ext cx="1676000" cy="2000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txBody>
          <a:bodyPr lIns="114300" tIns="152400" rIns="114300" anchor="t"/>
          <a:lstStyle/>
          <a:p>
            <a:pPr algn="ctr">
              <a:buNone/>
            </a:pPr>
            <a:r>
              <a:rPr lang="en-US" sz="2000" dirty="0">
                <a:solidFill>
                  <a:srgbClr val="7C3AED"/>
                </a:solidFill>
              </a:rPr>
              <a:t>🏆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Leaderboard</a:t>
            </a:r>
          </a:p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Rank/score column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14300" indent="-114300"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Animated podium top-3, horizontal bars</a:t>
            </a:r>
          </a:p>
        </p:txBody>
      </p:sp>
      <p:sp>
        <p:nvSpPr>
          <p:cNvPr id="13" name="t3"/>
          <p:cNvSpPr/>
          <p:nvPr/>
        </p:nvSpPr>
        <p:spPr>
          <a:xfrm>
            <a:off x="7244680" y="1755100"/>
            <a:ext cx="1676000" cy="2000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txBody>
          <a:bodyPr lIns="114300" tIns="152400" rIns="114300" anchor="t"/>
          <a:lstStyle/>
          <a:p>
            <a:pPr algn="ctr">
              <a:buNone/>
            </a:pPr>
            <a:r>
              <a:rPr lang="en-US" sz="2000" dirty="0">
                <a:solidFill>
                  <a:srgbClr val="059669"/>
                </a:solidFill>
              </a:rPr>
              <a:t>🃏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Cards</a:t>
            </a:r>
          </a:p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Text-heavy columns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14300" indent="-114300"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Searchable card grid, color-coded</a:t>
            </a:r>
          </a:p>
        </p:txBody>
      </p:sp>
      <p:sp>
        <p:nvSpPr>
          <p:cNvPr id="14" name="t4"/>
          <p:cNvSpPr/>
          <p:nvPr/>
        </p:nvSpPr>
        <p:spPr>
          <a:xfrm>
            <a:off x="9718440" y="1755100"/>
            <a:ext cx="1676000" cy="2000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25400">
            <a:solidFill>
              <a:srgbClr val="64748B"/>
            </a:solidFill>
          </a:ln>
        </p:spPr>
        <p:txBody>
          <a:bodyPr lIns="114300" tIns="152400" rIns="114300" anchor="t"/>
          <a:lstStyle/>
          <a:p>
            <a:pPr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⊞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Table</a:t>
            </a:r>
          </a:p>
          <a:p>
            <a:pPr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All other types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14300" indent="-114300"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Searchable, sortable, filterable</a:t>
            </a:r>
          </a:p>
        </p:txBody>
      </p:sp>
      <p:sp>
        <p:nvSpPr>
          <p:cNvPr id="20" name="pipe"/>
          <p:cNvSpPr/>
          <p:nvPr/>
        </p:nvSpPr>
        <p:spPr>
          <a:xfrm>
            <a:off x="675640" y="3874200"/>
            <a:ext cx="10718800" cy="3800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lIns="152400" anchor="ctr"/>
          <a:lstStyle/>
          <a:p>
            <a:pPr algn="ctr">
              <a:buNone/>
            </a:pPr>
            <a:r>
              <a:rPr lang="en-US" sz="1400" b="1" dirty="0">
                <a:solidFill>
                  <a:srgbClr val="4F46E5"/>
                </a:solidFill>
              </a:rPr>
              <a:t>Pipeline:  Data Profiler  →  App Hint Engine  →  Template Select  →  Data Injection  →  Sandboxed iframe</a:t>
            </a:r>
          </a:p>
        </p:txBody>
      </p:sp>
      <p:sp>
        <p:nvSpPr>
          <p:cNvPr id="30" name="ins0"/>
          <p:cNvSpPr/>
          <p:nvPr/>
        </p:nvSpPr>
        <p:spPr>
          <a:xfrm>
            <a:off x="675640" y="4541520"/>
            <a:ext cx="4922520" cy="1831780"/>
          </a:xfrm>
          <a:prstGeom prst="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txBody>
          <a:bodyPr lIns="152400" tIns="152400" rIns="152400" anchor="t"/>
          <a:lstStyle/>
          <a:p>
            <a:pPr>
              <a:buNone/>
            </a:pPr>
            <a:r>
              <a:rPr lang="en-US" sz="1400" b="1" dirty="0">
                <a:solidFill>
                  <a:srgbClr val="4F46E5"/>
                </a:solidFill>
              </a:rPr>
              <a:t>Why templates beat LLM-generated HTML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LLM HTML had 27% failure rate: incomplete docs, broken JS, wrong chart types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Templates are deterministic - only data payload changes at runtime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Gemini called once for a 20-word summary sentence only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Result: 10× faster, 100% reliable, immediately sandboxed</a:t>
            </a:r>
          </a:p>
        </p:txBody>
      </p:sp>
      <p:sp>
        <p:nvSpPr>
          <p:cNvPr id="31" name="ins1"/>
          <p:cNvSpPr/>
          <p:nvPr/>
        </p:nvSpPr>
        <p:spPr>
          <a:xfrm>
            <a:off x="6096000" y="4541520"/>
            <a:ext cx="5298440" cy="1831780"/>
          </a:xfrm>
          <a:prstGeom prst="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txBody>
          <a:bodyPr lIns="152400" tIns="152400" rIns="152400" anchor="t"/>
          <a:lstStyle/>
          <a:p>
            <a:pPr>
              <a:buNone/>
            </a:pPr>
            <a:r>
              <a:rPr lang="en-US" sz="1400" b="1" dirty="0">
                <a:solidFill>
                  <a:srgbClr val="059669"/>
                </a:solidFill>
              </a:rPr>
              <a:t>Technical implementation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React renders &lt;iframe srcDoc={html} sandbox='allow-scripts'&gt;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Chart.js 4.4.0 + Tailwind CSS loaded from CDN inside template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Real query data injected as: const DATA = [...json...]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Template errors cannot affect parent React application</a:t>
            </a:r>
          </a:p>
        </p:txBody>
      </p:sp>
    </p:spTree>
    <p:extLst>
      <p:ext uri="{BB962C8B-B14F-4D97-AF65-F5344CB8AC3E}">
        <p14:creationId xmlns:p14="http://schemas.microsoft.com/office/powerpoint/2010/main" val="187391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Plugin &amp; Claude Code Integration</a:t>
            </a:r>
          </a:p>
        </p:txBody>
      </p:sp>
      <p:sp>
        <p:nvSpPr>
          <p:cNvPr id="10" name="sec0"/>
          <p:cNvSpPr/>
          <p:nvPr/>
        </p:nvSpPr>
        <p:spPr>
          <a:xfrm>
            <a:off x="843280" y="1356320"/>
            <a:ext cx="5252720" cy="315472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txBody>
          <a:bodyPr lIns="228600" tIns="228600" rIns="228600" anchor="t"/>
          <a:lstStyle/>
          <a:p>
            <a:pPr>
              <a:buNone/>
            </a:pPr>
            <a:r>
              <a:rPr lang="en-US" sz="2200" dirty="0">
                <a:solidFill>
                  <a:srgbClr val="059669"/>
                </a:solidFill>
              </a:rPr>
              <a:t>🔌  Open Plugin Protocol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GET /.well-known/ai-</a:t>
            </a:r>
            <a:r>
              <a:rPr lang="en-US" sz="1300" dirty="0" err="1">
                <a:solidFill>
                  <a:srgbClr val="475569"/>
                </a:solidFill>
              </a:rPr>
              <a:t>plugin.json</a:t>
            </a:r>
            <a:r>
              <a:rPr lang="en-US" sz="1300" dirty="0">
                <a:solidFill>
                  <a:srgbClr val="475569"/>
                </a:solidFill>
              </a:rPr>
              <a:t> - manifest for AI assistants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POST /plugin/query - NL question → SQL + results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GET /results/{id} - public shareable result page (no auth)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GET /plugin-</a:t>
            </a:r>
            <a:r>
              <a:rPr lang="en-US" sz="1300" dirty="0" err="1">
                <a:solidFill>
                  <a:srgbClr val="475569"/>
                </a:solidFill>
              </a:rPr>
              <a:t>ui</a:t>
            </a:r>
            <a:r>
              <a:rPr lang="en-US" sz="1300" dirty="0">
                <a:solidFill>
                  <a:srgbClr val="475569"/>
                </a:solidFill>
              </a:rPr>
              <a:t> - 3-tab self-contained HTML demo interface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Routes to correct DB pipeline by db_type param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Results stored in-memory with UUID key</a:t>
            </a:r>
          </a:p>
        </p:txBody>
      </p:sp>
      <p:sp>
        <p:nvSpPr>
          <p:cNvPr id="11" name="sec1"/>
          <p:cNvSpPr/>
          <p:nvPr/>
        </p:nvSpPr>
        <p:spPr>
          <a:xfrm>
            <a:off x="6390640" y="1371600"/>
            <a:ext cx="5171440" cy="313944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txBody>
          <a:bodyPr lIns="228600" tIns="228600" rIns="228600" anchor="t"/>
          <a:lstStyle/>
          <a:p>
            <a:pPr>
              <a:buNone/>
            </a:pPr>
            <a:r>
              <a:rPr lang="en-US" sz="2200" dirty="0">
                <a:solidFill>
                  <a:srgbClr val="7C3AED"/>
                </a:solidFill>
              </a:rPr>
              <a:t>⌨  Claude Code CLI Plugin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/</a:t>
            </a:r>
            <a:r>
              <a:rPr lang="en-US" sz="1300" dirty="0" err="1">
                <a:solidFill>
                  <a:srgbClr val="475569"/>
                </a:solidFill>
              </a:rPr>
              <a:t>db-assistant:query</a:t>
            </a:r>
            <a:r>
              <a:rPr lang="en-US" sz="1300" dirty="0">
                <a:solidFill>
                  <a:srgbClr val="475569"/>
                </a:solidFill>
              </a:rPr>
              <a:t> - NL question, returns SQL + table in terminal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/</a:t>
            </a:r>
            <a:r>
              <a:rPr lang="en-US" sz="1300" dirty="0" err="1">
                <a:solidFill>
                  <a:srgbClr val="475569"/>
                </a:solidFill>
              </a:rPr>
              <a:t>db-assistant:connect</a:t>
            </a:r>
            <a:r>
              <a:rPr lang="en-US" sz="1300" dirty="0">
                <a:solidFill>
                  <a:srgbClr val="475569"/>
                </a:solidFill>
              </a:rPr>
              <a:t> - save a database connection string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/</a:t>
            </a:r>
            <a:r>
              <a:rPr lang="en-US" sz="1300" dirty="0" err="1">
                <a:solidFill>
                  <a:srgbClr val="475569"/>
                </a:solidFill>
              </a:rPr>
              <a:t>db-assistant:benchmark</a:t>
            </a:r>
            <a:r>
              <a:rPr lang="en-US" sz="1300" dirty="0">
                <a:solidFill>
                  <a:srgbClr val="475569"/>
                </a:solidFill>
              </a:rPr>
              <a:t> - view KDD benchmark results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SKILL.md architecture - allowed tools: Bash only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Uses Python urllib requests under the hood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Shareable result URL printed after each query</a:t>
            </a:r>
          </a:p>
        </p:txBody>
      </p:sp>
      <p:sp>
        <p:nvSpPr>
          <p:cNvPr id="20" name="demo"/>
          <p:cNvSpPr/>
          <p:nvPr/>
        </p:nvSpPr>
        <p:spPr>
          <a:xfrm>
            <a:off x="579120" y="4879000"/>
            <a:ext cx="10982960" cy="170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lIns="304800" tIns="228600" rIns="304800" anchor="t"/>
          <a:lstStyle/>
          <a:p>
            <a:pPr>
              <a:buNone/>
            </a:pPr>
            <a:r>
              <a:rPr lang="en-US" sz="1300" dirty="0">
                <a:solidFill>
                  <a:srgbClr val="94A3B8"/>
                </a:solidFill>
              </a:rPr>
              <a:t># Claude Code terminal</a:t>
            </a:r>
          </a:p>
          <a:p>
            <a:pPr>
              <a:buNone/>
            </a:pPr>
            <a:r>
              <a:rPr lang="en-US" sz="1400" dirty="0">
                <a:solidFill>
                  <a:srgbClr val="10B981"/>
                </a:solidFill>
              </a:rPr>
              <a:t>$ /db-assistant:query "How many employees are in each department?"</a:t>
            </a:r>
          </a:p>
          <a:p>
            <a:pPr>
              <a:buNone/>
            </a:pPr>
            <a:r>
              <a:rPr lang="en-US" sz="1300" dirty="0">
                <a:solidFill>
                  <a:srgbClr val="94A3B8"/>
                </a:solidFill>
              </a:rPr>
              <a:t>Generated SQL:  SELECT department, COUNT(*) as count FROM employees GROUP BY department</a:t>
            </a:r>
          </a:p>
          <a:p>
            <a:pPr>
              <a:buNone/>
            </a:pPr>
            <a:r>
              <a:rPr lang="en-US" sz="1300" dirty="0">
                <a:solidFill>
                  <a:srgbClr val="94A3B8"/>
                </a:solidFill>
              </a:rPr>
              <a:t>Rows: 4  |  Engineering: 22, Sales: 14, Marketing: 8, HR: 6</a:t>
            </a:r>
          </a:p>
          <a:p>
            <a:pPr>
              <a:buNone/>
            </a:pPr>
            <a:r>
              <a:rPr lang="en-US" sz="1300" dirty="0">
                <a:solidFill>
                  <a:srgbClr val="4F46E5"/>
                </a:solidFill>
              </a:rPr>
              <a:t>View Full Results:  https://db-assistant-backend-105401535311.us-central1.run.app/results/uuid</a:t>
            </a:r>
          </a:p>
        </p:txBody>
      </p:sp>
    </p:spTree>
    <p:extLst>
      <p:ext uri="{BB962C8B-B14F-4D97-AF65-F5344CB8AC3E}">
        <p14:creationId xmlns:p14="http://schemas.microsoft.com/office/powerpoint/2010/main" val="1295746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a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Testing &amp; Verification Results</a:t>
            </a:r>
          </a:p>
        </p:txBody>
      </p:sp>
      <p:sp>
        <p:nvSpPr>
          <p:cNvPr id="10" name="stat0"/>
          <p:cNvSpPr/>
          <p:nvPr/>
        </p:nvSpPr>
        <p:spPr>
          <a:xfrm>
            <a:off x="636200" y="1368380"/>
            <a:ext cx="2300640" cy="110024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25400">
            <a:solidFill>
              <a:srgbClr val="4F46E5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3200" b="1" dirty="0">
                <a:solidFill>
                  <a:srgbClr val="4F46E5"/>
                </a:solidFill>
              </a:rPr>
              <a:t>237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Total Tests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across all categories</a:t>
            </a:r>
          </a:p>
        </p:txBody>
      </p:sp>
      <p:sp>
        <p:nvSpPr>
          <p:cNvPr id="11" name="stat1"/>
          <p:cNvSpPr/>
          <p:nvPr/>
        </p:nvSpPr>
        <p:spPr>
          <a:xfrm>
            <a:off x="3270480" y="1368380"/>
            <a:ext cx="2300640" cy="110024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25400">
            <a:solidFill>
              <a:srgbClr val="05966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3200" b="1" dirty="0">
                <a:solidFill>
                  <a:srgbClr val="059669"/>
                </a:solidFill>
              </a:rPr>
              <a:t>228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Tests Passed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96.2% overall pass rate</a:t>
            </a:r>
          </a:p>
        </p:txBody>
      </p:sp>
      <p:sp>
        <p:nvSpPr>
          <p:cNvPr id="12" name="stat2"/>
          <p:cNvSpPr/>
          <p:nvPr/>
        </p:nvSpPr>
        <p:spPr>
          <a:xfrm>
            <a:off x="5827960" y="1368380"/>
            <a:ext cx="2553440" cy="110024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25400">
            <a:solidFill>
              <a:srgbClr val="D9770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96%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KDD Benchmark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48 / 50 tasks passed</a:t>
            </a:r>
          </a:p>
        </p:txBody>
      </p:sp>
      <p:sp>
        <p:nvSpPr>
          <p:cNvPr id="13" name="stat3"/>
          <p:cNvSpPr/>
          <p:nvPr/>
        </p:nvSpPr>
        <p:spPr>
          <a:xfrm>
            <a:off x="8619160" y="1368379"/>
            <a:ext cx="2553440" cy="110024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25400">
            <a:solidFill>
              <a:srgbClr val="7C3AED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3200" b="1" dirty="0">
                <a:solidFill>
                  <a:srgbClr val="7C3AED"/>
                </a:solidFill>
              </a:rPr>
              <a:t>9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Self-Corrected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via ReAct loop</a:t>
            </a:r>
          </a:p>
        </p:txBody>
      </p:sp>
      <p:sp>
        <p:nvSpPr>
          <p:cNvPr id="30" name="row0_0"/>
          <p:cNvSpPr/>
          <p:nvPr/>
        </p:nvSpPr>
        <p:spPr>
          <a:xfrm>
            <a:off x="1336000" y="3193901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SQL Guard unit tests</a:t>
            </a:r>
            <a:r>
              <a:rPr lang="en-US" sz="1300" dirty="0">
                <a:solidFill>
                  <a:srgbClr val="64748B"/>
                </a:solidFill>
              </a:rPr>
              <a:t>  24 / 24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31" name="row0_1"/>
          <p:cNvSpPr/>
          <p:nvPr/>
        </p:nvSpPr>
        <p:spPr>
          <a:xfrm>
            <a:off x="1336000" y="3488901"/>
            <a:ext cx="4190000" cy="295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Fernet encryption tests</a:t>
            </a:r>
            <a:r>
              <a:rPr lang="en-US" sz="1300" dirty="0">
                <a:solidFill>
                  <a:srgbClr val="64748B"/>
                </a:solidFill>
              </a:rPr>
              <a:t>  8 / 8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32" name="row0_2"/>
          <p:cNvSpPr/>
          <p:nvPr/>
        </p:nvSpPr>
        <p:spPr>
          <a:xfrm>
            <a:off x="1296800" y="3813901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ReAct loop unit tests</a:t>
            </a:r>
            <a:r>
              <a:rPr lang="en-US" sz="1300" dirty="0">
                <a:solidFill>
                  <a:srgbClr val="64748B"/>
                </a:solidFill>
              </a:rPr>
              <a:t>  10 / 10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33" name="row0_3"/>
          <p:cNvSpPr/>
          <p:nvPr/>
        </p:nvSpPr>
        <p:spPr>
          <a:xfrm>
            <a:off x="1336000" y="4108901"/>
            <a:ext cx="4190000" cy="295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Authentication integration</a:t>
            </a:r>
            <a:r>
              <a:rPr lang="en-US" sz="1300" dirty="0">
                <a:solidFill>
                  <a:srgbClr val="64748B"/>
                </a:solidFill>
              </a:rPr>
              <a:t>  14 / 14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34" name="row0_4"/>
          <p:cNvSpPr/>
          <p:nvPr/>
        </p:nvSpPr>
        <p:spPr>
          <a:xfrm>
            <a:off x="1336000" y="4452081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PostgreSQL NL-to-SQL E2E</a:t>
            </a:r>
            <a:r>
              <a:rPr lang="en-US" sz="1300" dirty="0">
                <a:solidFill>
                  <a:srgbClr val="64748B"/>
                </a:solidFill>
              </a:rPr>
              <a:t>  23 / 25</a:t>
            </a:r>
            <a:r>
              <a:rPr lang="en-US" sz="1400" b="1" dirty="0">
                <a:solidFill>
                  <a:srgbClr val="059669"/>
                </a:solidFill>
              </a:rPr>
              <a:t>  92%</a:t>
            </a:r>
          </a:p>
        </p:txBody>
      </p:sp>
      <p:sp>
        <p:nvSpPr>
          <p:cNvPr id="35" name="row0_5"/>
          <p:cNvSpPr/>
          <p:nvPr/>
        </p:nvSpPr>
        <p:spPr>
          <a:xfrm>
            <a:off x="1336000" y="4735501"/>
            <a:ext cx="4190000" cy="295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MySQL NL-to-SQL E2E</a:t>
            </a:r>
            <a:r>
              <a:rPr lang="en-US" sz="1300" dirty="0">
                <a:solidFill>
                  <a:srgbClr val="64748B"/>
                </a:solidFill>
              </a:rPr>
              <a:t>  10 / 10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50" name="row1_0"/>
          <p:cNvSpPr/>
          <p:nvPr/>
        </p:nvSpPr>
        <p:spPr>
          <a:xfrm>
            <a:off x="5705440" y="3122900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MongoDB aggregation E2E</a:t>
            </a:r>
            <a:r>
              <a:rPr lang="en-US" sz="1300" dirty="0">
                <a:solidFill>
                  <a:srgbClr val="64748B"/>
                </a:solidFill>
              </a:rPr>
              <a:t>  11 / 12</a:t>
            </a:r>
            <a:r>
              <a:rPr lang="en-US" sz="1400" b="1" dirty="0">
                <a:solidFill>
                  <a:srgbClr val="059669"/>
                </a:solidFill>
              </a:rPr>
              <a:t>  91.7%</a:t>
            </a:r>
          </a:p>
        </p:txBody>
      </p:sp>
      <p:sp>
        <p:nvSpPr>
          <p:cNvPr id="51" name="row1_1"/>
          <p:cNvSpPr/>
          <p:nvPr/>
        </p:nvSpPr>
        <p:spPr>
          <a:xfrm>
            <a:off x="5705880" y="3417900"/>
            <a:ext cx="4190000" cy="295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AlloyDB AI functions E2E</a:t>
            </a:r>
            <a:r>
              <a:rPr lang="en-US" sz="1300" dirty="0">
                <a:solidFill>
                  <a:srgbClr val="64748B"/>
                </a:solidFill>
              </a:rPr>
              <a:t>  15 / 15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52" name="row1_2"/>
          <p:cNvSpPr/>
          <p:nvPr/>
        </p:nvSpPr>
        <p:spPr>
          <a:xfrm>
            <a:off x="5705880" y="3732041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SQL injection prevention</a:t>
            </a:r>
            <a:r>
              <a:rPr lang="en-US" sz="1300" dirty="0">
                <a:solidFill>
                  <a:srgbClr val="64748B"/>
                </a:solidFill>
              </a:rPr>
              <a:t>  7 / 7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53" name="row1_3"/>
          <p:cNvSpPr/>
          <p:nvPr/>
        </p:nvSpPr>
        <p:spPr>
          <a:xfrm>
            <a:off x="5705880" y="4072181"/>
            <a:ext cx="4190000" cy="295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Swarm agent E2E</a:t>
            </a:r>
            <a:r>
              <a:rPr lang="en-US" sz="1300" dirty="0">
                <a:solidFill>
                  <a:srgbClr val="64748B"/>
                </a:solidFill>
              </a:rPr>
              <a:t>  7 / 8</a:t>
            </a:r>
            <a:r>
              <a:rPr lang="en-US" sz="1400" b="1" dirty="0">
                <a:solidFill>
                  <a:srgbClr val="D97706"/>
                </a:solidFill>
              </a:rPr>
              <a:t>  87.5%</a:t>
            </a:r>
          </a:p>
        </p:txBody>
      </p:sp>
      <p:sp>
        <p:nvSpPr>
          <p:cNvPr id="54" name="row1_4"/>
          <p:cNvSpPr/>
          <p:nvPr/>
        </p:nvSpPr>
        <p:spPr>
          <a:xfrm>
            <a:off x="5705880" y="4403841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Claude Plugin E2E</a:t>
            </a:r>
            <a:r>
              <a:rPr lang="en-US" sz="1300" dirty="0">
                <a:solidFill>
                  <a:srgbClr val="64748B"/>
                </a:solidFill>
              </a:rPr>
              <a:t>  9 / 9</a:t>
            </a:r>
            <a:r>
              <a:rPr lang="en-US" sz="1400" b="1" dirty="0">
                <a:solidFill>
                  <a:srgbClr val="4F46E5"/>
                </a:solidFill>
              </a:rPr>
              <a:t>  100%</a:t>
            </a:r>
          </a:p>
        </p:txBody>
      </p:sp>
      <p:sp>
        <p:nvSpPr>
          <p:cNvPr id="55" name="row1_5"/>
          <p:cNvSpPr/>
          <p:nvPr/>
        </p:nvSpPr>
        <p:spPr>
          <a:xfrm>
            <a:off x="5705880" y="4735501"/>
            <a:ext cx="4190000" cy="295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KDD Cup benchmark</a:t>
            </a:r>
            <a:r>
              <a:rPr lang="en-US" sz="1300" dirty="0">
                <a:solidFill>
                  <a:srgbClr val="64748B"/>
                </a:solidFill>
              </a:rPr>
              <a:t>  41 / 50</a:t>
            </a:r>
            <a:r>
              <a:rPr lang="en-US" sz="1400" b="1" dirty="0">
                <a:solidFill>
                  <a:srgbClr val="D97706"/>
                </a:solidFill>
              </a:rPr>
              <a:t>  82.0%</a:t>
            </a:r>
          </a:p>
        </p:txBody>
      </p:sp>
    </p:spTree>
    <p:extLst>
      <p:ext uri="{BB962C8B-B14F-4D97-AF65-F5344CB8AC3E}">
        <p14:creationId xmlns:p14="http://schemas.microsoft.com/office/powerpoint/2010/main" val="211745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Benchmarks</a:t>
            </a:r>
          </a:p>
        </p:txBody>
      </p:sp>
      <p:sp>
        <p:nvSpPr>
          <p:cNvPr id="3" name="insight"/>
          <p:cNvSpPr/>
          <p:nvPr/>
        </p:nvSpPr>
        <p:spPr>
          <a:xfrm>
            <a:off x="428890" y="860000"/>
            <a:ext cx="11214470" cy="44478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lIns="228600" anchor="ctr"/>
          <a:lstStyle/>
          <a:p>
            <a:pPr>
              <a:buNone/>
            </a:pPr>
            <a:r>
              <a:rPr lang="en-US" sz="1500" b="1" dirty="0">
                <a:solidFill>
                  <a:srgbClr val="4F46E5"/>
                </a:solidFill>
              </a:rPr>
              <a:t>Key Finding: </a:t>
            </a:r>
            <a:r>
              <a:rPr lang="en-US" sz="1500" dirty="0">
                <a:solidFill>
                  <a:srgbClr val="1E293B"/>
                </a:solidFill>
              </a:rPr>
              <a:t>Gemini API call dominates at 93–97% of total response time across all levels and database types</a:t>
            </a:r>
          </a:p>
        </p:txBody>
      </p:sp>
      <p:sp>
        <p:nvSpPr>
          <p:cNvPr id="4" name="left"/>
          <p:cNvSpPr/>
          <p:nvPr/>
        </p:nvSpPr>
        <p:spPr>
          <a:xfrm>
            <a:off x="1257450" y="1473140"/>
            <a:ext cx="4190000" cy="3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lIns="152400" anchor="ctr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NL-to-SQL Query Latency</a:t>
            </a:r>
          </a:p>
        </p:txBody>
      </p:sp>
      <p:sp>
        <p:nvSpPr>
          <p:cNvPr id="10" name="lr0"/>
          <p:cNvSpPr/>
          <p:nvPr/>
        </p:nvSpPr>
        <p:spPr>
          <a:xfrm>
            <a:off x="1257450" y="1894590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Simple single-table SELECT</a:t>
            </a:r>
            <a:r>
              <a:rPr lang="en-US" sz="1400" b="1" dirty="0">
                <a:solidFill>
                  <a:srgbClr val="4F46E5"/>
                </a:solidFill>
              </a:rPr>
              <a:t>  1,873ms</a:t>
            </a:r>
          </a:p>
        </p:txBody>
      </p:sp>
      <p:sp>
        <p:nvSpPr>
          <p:cNvPr id="11" name="lr1"/>
          <p:cNvSpPr/>
          <p:nvPr/>
        </p:nvSpPr>
        <p:spPr>
          <a:xfrm>
            <a:off x="1257450" y="2231040"/>
            <a:ext cx="4190000" cy="29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Aggregation with GROUP BY</a:t>
            </a:r>
            <a:r>
              <a:rPr lang="en-US" sz="1400" b="1" dirty="0">
                <a:solidFill>
                  <a:srgbClr val="4F46E5"/>
                </a:solidFill>
              </a:rPr>
              <a:t>  2,210ms</a:t>
            </a:r>
          </a:p>
        </p:txBody>
      </p:sp>
      <p:sp>
        <p:nvSpPr>
          <p:cNvPr id="12" name="lr2"/>
          <p:cNvSpPr/>
          <p:nvPr/>
        </p:nvSpPr>
        <p:spPr>
          <a:xfrm>
            <a:off x="1257450" y="2572500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Multi-table JOIN (2 tables)</a:t>
            </a:r>
            <a:r>
              <a:rPr lang="en-US" sz="1400" b="1" dirty="0">
                <a:solidFill>
                  <a:srgbClr val="4F46E5"/>
                </a:solidFill>
              </a:rPr>
              <a:t>  2,587ms</a:t>
            </a:r>
          </a:p>
        </p:txBody>
      </p:sp>
      <p:sp>
        <p:nvSpPr>
          <p:cNvPr id="13" name="lr3"/>
          <p:cNvSpPr/>
          <p:nvPr/>
        </p:nvSpPr>
        <p:spPr>
          <a:xfrm>
            <a:off x="1257450" y="2881370"/>
            <a:ext cx="4190000" cy="295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Multi-table JOIN (3 tables)</a:t>
            </a:r>
            <a:r>
              <a:rPr lang="en-US" sz="1400" b="1" dirty="0">
                <a:solidFill>
                  <a:srgbClr val="4F46E5"/>
                </a:solidFill>
              </a:rPr>
              <a:t>  3,066ms</a:t>
            </a:r>
          </a:p>
        </p:txBody>
      </p:sp>
      <p:sp>
        <p:nvSpPr>
          <p:cNvPr id="14" name="lr4"/>
          <p:cNvSpPr/>
          <p:nvPr/>
        </p:nvSpPr>
        <p:spPr>
          <a:xfrm>
            <a:off x="1257450" y="3217880"/>
            <a:ext cx="4190000" cy="295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txBody>
          <a:bodyPr lIns="114300" rIns="114300" anchor="ctr"/>
          <a:lstStyle/>
          <a:p>
            <a:pPr>
              <a:buNone/>
            </a:pPr>
            <a:r>
              <a:rPr lang="en-US" sz="1300" dirty="0">
                <a:solidFill>
                  <a:srgbClr val="1E293B"/>
                </a:solidFill>
              </a:rPr>
              <a:t>Complex filter with subquery</a:t>
            </a:r>
            <a:r>
              <a:rPr lang="en-US" sz="1400" b="1" dirty="0">
                <a:solidFill>
                  <a:srgbClr val="4F46E5"/>
                </a:solidFill>
              </a:rPr>
              <a:t>  2,703ms</a:t>
            </a:r>
          </a:p>
        </p:txBody>
      </p:sp>
      <p:sp>
        <p:nvSpPr>
          <p:cNvPr id="20" name="right"/>
          <p:cNvSpPr/>
          <p:nvPr/>
        </p:nvSpPr>
        <p:spPr>
          <a:xfrm>
            <a:off x="6857700" y="1431640"/>
            <a:ext cx="4344000" cy="3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lIns="152400" anchor="ctr"/>
          <a:lstStyle/>
          <a:p>
            <a:pPr>
              <a:buNone/>
            </a:pPr>
            <a:r>
              <a:rPr lang="en-US" sz="1500" b="1" dirty="0">
                <a:solidFill>
                  <a:srgbClr val="FFFFFF"/>
                </a:solidFill>
              </a:rPr>
              <a:t>Agent Level Comparison</a:t>
            </a:r>
          </a:p>
        </p:txBody>
      </p:sp>
      <p:sp>
        <p:nvSpPr>
          <p:cNvPr id="25" name="ar0"/>
          <p:cNvSpPr/>
          <p:nvPr/>
        </p:nvSpPr>
        <p:spPr>
          <a:xfrm>
            <a:off x="6857700" y="1885820"/>
            <a:ext cx="4344000" cy="3800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2563EB"/>
            </a:solidFill>
          </a:ln>
        </p:spPr>
        <p:txBody>
          <a:bodyPr lIns="152400" anchor="ctr"/>
          <a:lstStyle/>
          <a:p>
            <a:pPr>
              <a:buNone/>
            </a:pPr>
            <a:r>
              <a:rPr lang="en-US" sz="1500" b="1" dirty="0">
                <a:solidFill>
                  <a:srgbClr val="2563EB"/>
                </a:solidFill>
              </a:rPr>
              <a:t>L1 Basic Agent: </a:t>
            </a:r>
            <a:r>
              <a:rPr lang="en-US" sz="1500" b="1" dirty="0">
                <a:solidFill>
                  <a:srgbClr val="1E293B"/>
                </a:solidFill>
              </a:rPr>
              <a:t>~2s</a:t>
            </a:r>
            <a:r>
              <a:rPr lang="en-US" sz="1300" dirty="0">
                <a:solidFill>
                  <a:srgbClr val="64748B"/>
                </a:solidFill>
              </a:rPr>
              <a:t>  Speed optimized</a:t>
            </a:r>
          </a:p>
        </p:txBody>
      </p:sp>
      <p:sp>
        <p:nvSpPr>
          <p:cNvPr id="26" name="ar1"/>
          <p:cNvSpPr/>
          <p:nvPr/>
        </p:nvSpPr>
        <p:spPr>
          <a:xfrm>
            <a:off x="6857700" y="2340000"/>
            <a:ext cx="4344000" cy="3800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7C3AED"/>
            </a:solidFill>
          </a:ln>
        </p:spPr>
        <p:txBody>
          <a:bodyPr lIns="152400" anchor="ctr"/>
          <a:lstStyle/>
          <a:p>
            <a:pPr>
              <a:buNone/>
            </a:pPr>
            <a:r>
              <a:rPr lang="en-US" sz="1500" b="1" dirty="0">
                <a:solidFill>
                  <a:srgbClr val="7C3AED"/>
                </a:solidFill>
              </a:rPr>
              <a:t>L2 ReAct Agent: </a:t>
            </a:r>
            <a:r>
              <a:rPr lang="en-US" sz="1500" b="1" dirty="0">
                <a:solidFill>
                  <a:srgbClr val="1E293B"/>
                </a:solidFill>
              </a:rPr>
              <a:t>~36s</a:t>
            </a:r>
            <a:r>
              <a:rPr lang="en-US" sz="1300" dirty="0">
                <a:solidFill>
                  <a:srgbClr val="64748B"/>
                </a:solidFill>
              </a:rPr>
              <a:t>  With self-correction</a:t>
            </a:r>
          </a:p>
        </p:txBody>
      </p:sp>
      <p:sp>
        <p:nvSpPr>
          <p:cNvPr id="27" name="ar2"/>
          <p:cNvSpPr/>
          <p:nvPr/>
        </p:nvSpPr>
        <p:spPr>
          <a:xfrm>
            <a:off x="6857700" y="2807500"/>
            <a:ext cx="4344000" cy="3800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txBody>
          <a:bodyPr lIns="152400" anchor="ctr"/>
          <a:lstStyle/>
          <a:p>
            <a:pPr>
              <a:buNone/>
            </a:pPr>
            <a:r>
              <a:rPr lang="en-US" sz="1500" b="1" dirty="0">
                <a:solidFill>
                  <a:srgbClr val="059669"/>
                </a:solidFill>
              </a:rPr>
              <a:t>L3 Swarm Agent: </a:t>
            </a:r>
            <a:r>
              <a:rPr lang="en-US" sz="1500" b="1" dirty="0">
                <a:solidFill>
                  <a:srgbClr val="1E293B"/>
                </a:solidFill>
              </a:rPr>
              <a:t>~42s</a:t>
            </a:r>
            <a:r>
              <a:rPr lang="en-US" sz="1300" dirty="0">
                <a:solidFill>
                  <a:srgbClr val="64748B"/>
                </a:solidFill>
              </a:rPr>
              <a:t>  4 agents parallel</a:t>
            </a:r>
          </a:p>
        </p:txBody>
      </p:sp>
      <p:sp>
        <p:nvSpPr>
          <p:cNvPr id="40" name="fact0"/>
          <p:cNvSpPr/>
          <p:nvPr/>
        </p:nvSpPr>
        <p:spPr>
          <a:xfrm>
            <a:off x="551780" y="3812400"/>
            <a:ext cx="2742000" cy="86000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000" b="1" dirty="0">
                <a:solidFill>
                  <a:srgbClr val="059669"/>
                </a:solidFill>
              </a:rPr>
              <a:t>10x faster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Generative UI Speed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Template 1.9s vs LLM 19.8s</a:t>
            </a:r>
          </a:p>
        </p:txBody>
      </p:sp>
      <p:sp>
        <p:nvSpPr>
          <p:cNvPr id="41" name="fact1"/>
          <p:cNvSpPr/>
          <p:nvPr/>
        </p:nvSpPr>
        <p:spPr>
          <a:xfrm>
            <a:off x="4686300" y="3811640"/>
            <a:ext cx="2742000" cy="860000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19050">
            <a:solidFill>
              <a:srgbClr val="4F46E5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000" b="1" dirty="0">
                <a:solidFill>
                  <a:srgbClr val="4F46E5"/>
                </a:solidFill>
              </a:rPr>
              <a:t>0 errors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Concurrent Users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simultaneous users tested</a:t>
            </a:r>
          </a:p>
        </p:txBody>
      </p:sp>
      <p:sp>
        <p:nvSpPr>
          <p:cNvPr id="42" name="fact2"/>
          <p:cNvSpPr/>
          <p:nvPr/>
        </p:nvSpPr>
        <p:spPr>
          <a:xfrm>
            <a:off x="8820820" y="3812401"/>
            <a:ext cx="2742000" cy="859999"/>
          </a:xfrm>
          <a:prstGeom prst="roundRect">
            <a:avLst>
              <a:gd name="adj" fmla="val 20000"/>
            </a:avLst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2000" b="1" dirty="0">
                <a:solidFill>
                  <a:srgbClr val="D97706"/>
                </a:solidFill>
              </a:rPr>
              <a:t>93.3%</a:t>
            </a:r>
          </a:p>
          <a:p>
            <a:pPr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Template Accuracy</a:t>
            </a:r>
          </a:p>
          <a:p>
            <a:pPr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28/30 correct selections</a:t>
            </a:r>
          </a:p>
        </p:txBody>
      </p:sp>
      <p:sp>
        <p:nvSpPr>
          <p:cNvPr id="50" name="ainote"/>
          <p:cNvSpPr/>
          <p:nvPr/>
        </p:nvSpPr>
        <p:spPr>
          <a:xfrm>
            <a:off x="551780" y="4900000"/>
            <a:ext cx="11091580" cy="1378880"/>
          </a:xfrm>
          <a:prstGeom prst="rect">
            <a:avLst/>
          </a:prstGeom>
          <a:solidFill>
            <a:srgbClr val="F8FAFF"/>
          </a:solidFill>
          <a:ln w="12700">
            <a:solidFill>
              <a:srgbClr val="CBD5E1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500" b="1" dirty="0">
                <a:solidFill>
                  <a:srgbClr val="1E293B"/>
                </a:solidFill>
              </a:rPr>
              <a:t>AI Function Processing (per row): </a:t>
            </a:r>
            <a:r>
              <a:rPr lang="en-US" sz="1500" dirty="0">
                <a:solidFill>
                  <a:srgbClr val="4F46E5"/>
                </a:solidFill>
              </a:rPr>
              <a:t>ai.generate ~1,860ms/row • ai.if ~1,550ms/row • ai.rank single call (50 rows = 4.9s)</a:t>
            </a:r>
          </a:p>
          <a:p>
            <a:pPr marL="228600" indent="-228600"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Response times by DB type: PostgreSQL 1.9s, MySQL 2.0s, MongoDB 2.0s - all within same range</a:t>
            </a:r>
          </a:p>
          <a:p>
            <a:pPr marL="228600" indent="-228600"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L3 Swarm total time (38–52s) vs sum of agents - parallel execution saves ~60% vs sequential</a:t>
            </a:r>
          </a:p>
          <a:p>
            <a:pPr marL="228600" indent="-228600"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KDD Hard tasks average 13.4s - complex schemas generate longer prompts → longer Gemini calls</a:t>
            </a:r>
          </a:p>
        </p:txBody>
      </p:sp>
    </p:spTree>
    <p:extLst>
      <p:ext uri="{BB962C8B-B14F-4D97-AF65-F5344CB8AC3E}">
        <p14:creationId xmlns:p14="http://schemas.microsoft.com/office/powerpoint/2010/main" val="619119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Architecture - Google Cloud Platform</a:t>
            </a:r>
          </a:p>
        </p:txBody>
      </p:sp>
      <p:sp>
        <p:nvSpPr>
          <p:cNvPr id="10" name="box10"/>
          <p:cNvSpPr/>
          <p:nvPr/>
        </p:nvSpPr>
        <p:spPr>
          <a:xfrm>
            <a:off x="654353" y="1195280"/>
            <a:ext cx="1828800" cy="24000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>
            <a:noFill/>
          </a:ln>
        </p:spPr>
        <p:txBody>
          <a:bodyPr lIns="152400" tIns="2286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 Browser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React 18 SPA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React Router v6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Axios + JWT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Recharts + Chart.js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Port: HTTPS</a:t>
            </a:r>
          </a:p>
        </p:txBody>
      </p:sp>
      <p:sp>
        <p:nvSpPr>
          <p:cNvPr id="20" name="box20"/>
          <p:cNvSpPr/>
          <p:nvPr/>
        </p:nvSpPr>
        <p:spPr>
          <a:xfrm>
            <a:off x="3373374" y="1210000"/>
            <a:ext cx="2064535" cy="24000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txBody>
          <a:bodyPr lIns="152400" tIns="2286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Cloud Run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Frontend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nginx container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512MB RAM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Static React build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us-central1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Always-on HTTPS</a:t>
            </a:r>
          </a:p>
        </p:txBody>
      </p:sp>
      <p:sp>
        <p:nvSpPr>
          <p:cNvPr id="30" name="box30"/>
          <p:cNvSpPr/>
          <p:nvPr/>
        </p:nvSpPr>
        <p:spPr>
          <a:xfrm>
            <a:off x="6279187" y="1210000"/>
            <a:ext cx="2074280" cy="24000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txBody>
          <a:bodyPr lIns="152400" tIns="2286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Cloud Run</a:t>
            </a:r>
          </a:p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FastAPI container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2 vCPU / 2GB RAM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300s timeout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46 REST endpoints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JWT auth middleware</a:t>
            </a:r>
          </a:p>
        </p:txBody>
      </p:sp>
      <p:sp>
        <p:nvSpPr>
          <p:cNvPr id="40" name="box40"/>
          <p:cNvSpPr/>
          <p:nvPr/>
        </p:nvSpPr>
        <p:spPr>
          <a:xfrm>
            <a:off x="9177760" y="1195280"/>
            <a:ext cx="2516400" cy="24000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</p:spPr>
        <p:txBody>
          <a:bodyPr lIns="152400" tIns="228600" rIns="152400" anchor="t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Google Cloud Services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Gemini 2.5 Flash API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Cloud SQL PostgreSQL 15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Artifact Registry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Cloud Build CI/CD</a:t>
            </a:r>
          </a:p>
          <a:p>
            <a:pPr marL="152400" indent="-152400"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Secret Manager</a:t>
            </a:r>
          </a:p>
        </p:txBody>
      </p:sp>
      <p:sp>
        <p:nvSpPr>
          <p:cNvPr id="50" name="arr0"/>
          <p:cNvSpPr txBox="1"/>
          <p:nvPr/>
        </p:nvSpPr>
        <p:spPr>
          <a:xfrm>
            <a:off x="2703893" y="2245280"/>
            <a:ext cx="228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1" name="arr1"/>
          <p:cNvSpPr txBox="1"/>
          <p:nvPr/>
        </p:nvSpPr>
        <p:spPr>
          <a:xfrm>
            <a:off x="5744548" y="2245280"/>
            <a:ext cx="228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2" name="arr2"/>
          <p:cNvSpPr txBox="1"/>
          <p:nvPr/>
        </p:nvSpPr>
        <p:spPr>
          <a:xfrm>
            <a:off x="8651613" y="2260000"/>
            <a:ext cx="228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0" name="env"/>
          <p:cNvSpPr/>
          <p:nvPr/>
        </p:nvSpPr>
        <p:spPr>
          <a:xfrm>
            <a:off x="457200" y="3790000"/>
            <a:ext cx="11236960" cy="680000"/>
          </a:xfrm>
          <a:prstGeom prst="rect">
            <a:avLst/>
          </a:prstGeom>
          <a:solidFill>
            <a:srgbClr val="F8FAFF"/>
          </a:solidFill>
          <a:ln w="12700">
            <a:solidFill>
              <a:srgbClr val="4F46E5"/>
            </a:solidFill>
          </a:ln>
        </p:spPr>
        <p:txBody>
          <a:bodyPr lIns="228600" anchor="ctr"/>
          <a:lstStyle/>
          <a:p>
            <a:pPr>
              <a:buNone/>
            </a:pPr>
            <a:r>
              <a:rPr lang="en-US" sz="1400" b="1" dirty="0">
                <a:solidFill>
                  <a:srgbClr val="4F46E5"/>
                </a:solidFill>
              </a:rPr>
              <a:t>Env vars (Cloud Run): </a:t>
            </a:r>
            <a:r>
              <a:rPr lang="en-US" sz="1300" dirty="0">
                <a:solidFill>
                  <a:srgbClr val="1E293B"/>
                </a:solidFill>
              </a:rPr>
              <a:t>GEMINI_API_KEY • FERNET_KEY (AES-256) • JWT_SECRET • DB_HOST (Unix socket) • ALLOWED_ORIGINS</a:t>
            </a:r>
          </a:p>
        </p:txBody>
      </p:sp>
      <p:sp>
        <p:nvSpPr>
          <p:cNvPr id="61" name="urls"/>
          <p:cNvSpPr/>
          <p:nvPr/>
        </p:nvSpPr>
        <p:spPr>
          <a:xfrm>
            <a:off x="457200" y="4859440"/>
            <a:ext cx="11236960" cy="1470240"/>
          </a:xfrm>
          <a:prstGeom prst="rect">
            <a:avLst/>
          </a:prstGeom>
          <a:solidFill>
            <a:srgbClr val="F8FAFF"/>
          </a:solidFill>
          <a:ln w="12700">
            <a:solidFill>
              <a:srgbClr val="059669"/>
            </a:solidFill>
          </a:ln>
        </p:spPr>
        <p:txBody>
          <a:bodyPr lIns="228600" tIns="190500" rIns="228600" anchor="t"/>
          <a:lstStyle/>
          <a:p>
            <a:pPr>
              <a:buNone/>
            </a:pPr>
            <a:r>
              <a:rPr lang="en-US" sz="1500" b="1" dirty="0">
                <a:solidFill>
                  <a:srgbClr val="059669"/>
                </a:solidFill>
              </a:rPr>
              <a:t>Live Production URLs</a:t>
            </a:r>
          </a:p>
          <a:p>
            <a:pPr marL="228600" indent="-228600"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Frontend: </a:t>
            </a:r>
            <a:r>
              <a:rPr lang="en-US" sz="1300" dirty="0">
                <a:solidFill>
                  <a:srgbClr val="4F46E5"/>
                </a:solidFill>
              </a:rPr>
              <a:t>https://db-assistant-frontend-105401535311.us-central1.run.app</a:t>
            </a:r>
          </a:p>
          <a:p>
            <a:pPr marL="228600" indent="-228600"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Backend API: </a:t>
            </a:r>
            <a:r>
              <a:rPr lang="en-US" sz="1300" dirty="0">
                <a:solidFill>
                  <a:srgbClr val="4F46E5"/>
                </a:solidFill>
              </a:rPr>
              <a:t>https://db-assistant-backend-105401535311.us-central1.run.app/docs</a:t>
            </a:r>
          </a:p>
          <a:p>
            <a:pPr marL="228600" indent="-228600"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Local dev: Docker Compose for PostgreSQL • FastAPI on Uvicorn • React dev server - all three in sequence</a:t>
            </a:r>
          </a:p>
        </p:txBody>
      </p:sp>
    </p:spTree>
    <p:extLst>
      <p:ext uri="{BB962C8B-B14F-4D97-AF65-F5344CB8AC3E}">
        <p14:creationId xmlns:p14="http://schemas.microsoft.com/office/powerpoint/2010/main" val="186775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10" name="c0"/>
          <p:cNvSpPr/>
          <p:nvPr/>
        </p:nvSpPr>
        <p:spPr>
          <a:xfrm>
            <a:off x="1066800" y="950890"/>
            <a:ext cx="10210800" cy="940000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9050">
            <a:solidFill>
              <a:srgbClr val="4F46E5"/>
            </a:solidFill>
          </a:ln>
        </p:spPr>
        <p:txBody>
          <a:bodyPr lIns="342900" rIns="228600" anchor="ctr"/>
          <a:lstStyle/>
          <a:p>
            <a:pPr>
              <a:buNone/>
            </a:pPr>
            <a:r>
              <a:rPr lang="en-US" sz="1600" b="1" dirty="0">
                <a:solidFill>
                  <a:srgbClr val="4F46E5"/>
                </a:solidFill>
              </a:rPr>
              <a:t>1. NL-to-SQL Pipeline Effectiveness  </a:t>
            </a:r>
            <a:r>
              <a:rPr lang="en-US" sz="1400" dirty="0">
                <a:solidFill>
                  <a:srgbClr val="334155"/>
                </a:solidFill>
              </a:rPr>
              <a:t>Schema-aware prompting with Gemini 2.5 Flash achieves 98% accuracy on internal test set and 96% on KDD Cup 2026 external benchmark confirming real-world viability beyond academic evaluations.</a:t>
            </a:r>
          </a:p>
        </p:txBody>
      </p:sp>
      <p:sp>
        <p:nvSpPr>
          <p:cNvPr id="20" name="n0"/>
          <p:cNvSpPr/>
          <p:nvPr/>
        </p:nvSpPr>
        <p:spPr>
          <a:xfrm>
            <a:off x="493800" y="1230890"/>
            <a:ext cx="380000" cy="3800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c1"/>
          <p:cNvSpPr/>
          <p:nvPr/>
        </p:nvSpPr>
        <p:spPr>
          <a:xfrm>
            <a:off x="1066800" y="2028260"/>
            <a:ext cx="10210800" cy="869983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9050">
            <a:solidFill>
              <a:srgbClr val="7C3AED"/>
            </a:solidFill>
          </a:ln>
        </p:spPr>
        <p:txBody>
          <a:bodyPr lIns="342900" rIns="228600" anchor="ctr"/>
          <a:lstStyle/>
          <a:p>
            <a:pPr>
              <a:buNone/>
            </a:pPr>
            <a:r>
              <a:rPr lang="en-US" sz="1600" b="1" dirty="0">
                <a:solidFill>
                  <a:srgbClr val="7C3AED"/>
                </a:solidFill>
              </a:rPr>
              <a:t>2. Three-Level Agent Architecture  </a:t>
            </a:r>
            <a:r>
              <a:rPr lang="en-US" sz="1400" dirty="0">
                <a:solidFill>
                  <a:srgbClr val="334155"/>
                </a:solidFill>
              </a:rPr>
              <a:t>L1/L2/L3 framework makes speed-accuracy-richness tradeoffs explicit and observable. ReAct self-correction directly contributed 9 additional benchmark passes.</a:t>
            </a:r>
          </a:p>
        </p:txBody>
      </p:sp>
      <p:sp>
        <p:nvSpPr>
          <p:cNvPr id="21" name="n1"/>
          <p:cNvSpPr/>
          <p:nvPr/>
        </p:nvSpPr>
        <p:spPr>
          <a:xfrm>
            <a:off x="534400" y="2273251"/>
            <a:ext cx="380000" cy="380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c2"/>
          <p:cNvSpPr/>
          <p:nvPr/>
        </p:nvSpPr>
        <p:spPr>
          <a:xfrm>
            <a:off x="1066800" y="3081002"/>
            <a:ext cx="10210800" cy="940000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txBody>
          <a:bodyPr lIns="342900" rIns="228600" anchor="ctr"/>
          <a:lstStyle/>
          <a:p>
            <a:pPr>
              <a:buNone/>
            </a:pPr>
            <a:r>
              <a:rPr lang="en-US" sz="1600" b="1" dirty="0" err="1">
                <a:solidFill>
                  <a:srgbClr val="059669"/>
                </a:solidFill>
              </a:rPr>
              <a:t>AlloyDB</a:t>
            </a:r>
            <a:r>
              <a:rPr lang="en-US" sz="1600" b="1" dirty="0">
                <a:solidFill>
                  <a:srgbClr val="059669"/>
                </a:solidFill>
              </a:rPr>
              <a:t> AI Simulation Validity  </a:t>
            </a:r>
            <a:r>
              <a:rPr lang="en-US" sz="1400" dirty="0">
                <a:solidFill>
                  <a:srgbClr val="334155"/>
                </a:solidFill>
              </a:rPr>
              <a:t>ai.generate / ai.if / ai.rank replicates AlloyDB's in-database AI enrichment on standard PostgreSQL demonstrating the pattern is platform-independent and implementable with any external LLM API.</a:t>
            </a:r>
          </a:p>
        </p:txBody>
      </p:sp>
      <p:sp>
        <p:nvSpPr>
          <p:cNvPr id="22" name="n2"/>
          <p:cNvSpPr/>
          <p:nvPr/>
        </p:nvSpPr>
        <p:spPr>
          <a:xfrm>
            <a:off x="500920" y="3361002"/>
            <a:ext cx="380000" cy="380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c3"/>
          <p:cNvSpPr/>
          <p:nvPr/>
        </p:nvSpPr>
        <p:spPr>
          <a:xfrm>
            <a:off x="1066800" y="4203761"/>
            <a:ext cx="10210800" cy="940000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txBody>
          <a:bodyPr lIns="342900" rIns="228600" anchor="ctr"/>
          <a:lstStyle/>
          <a:p>
            <a:pPr>
              <a:buNone/>
            </a:pPr>
            <a:r>
              <a:rPr lang="en-US" sz="1600" b="1" dirty="0">
                <a:solidFill>
                  <a:srgbClr val="D97706"/>
                </a:solidFill>
              </a:rPr>
              <a:t>Template-Based Generative UI Reliability  </a:t>
            </a:r>
            <a:r>
              <a:rPr lang="en-US" sz="1400" dirty="0">
                <a:solidFill>
                  <a:srgbClr val="334155"/>
                </a:solidFill>
              </a:rPr>
              <a:t>Pre-built templates deliver 100% success rate vs 73% for LLM-generated HTML, 10× faster rendering (1.9s vs 19.8s). Hybrid approach - LLM for analysis, deterministic code for rendering - is the right design.</a:t>
            </a:r>
          </a:p>
        </p:txBody>
      </p:sp>
      <p:sp>
        <p:nvSpPr>
          <p:cNvPr id="23" name="n3"/>
          <p:cNvSpPr/>
          <p:nvPr/>
        </p:nvSpPr>
        <p:spPr>
          <a:xfrm>
            <a:off x="469900" y="4483761"/>
            <a:ext cx="380000" cy="380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c4"/>
          <p:cNvSpPr/>
          <p:nvPr/>
        </p:nvSpPr>
        <p:spPr>
          <a:xfrm>
            <a:off x="1066800" y="5326520"/>
            <a:ext cx="10210800" cy="940000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9050">
            <a:solidFill>
              <a:srgbClr val="0D9488"/>
            </a:solidFill>
          </a:ln>
        </p:spPr>
        <p:txBody>
          <a:bodyPr lIns="342900" rIns="228600" anchor="ctr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Security Architecture Effectiveness  </a:t>
            </a:r>
            <a:r>
              <a:rPr lang="en-US" sz="1400" dirty="0">
                <a:solidFill>
                  <a:srgbClr val="334155"/>
                </a:solidFill>
              </a:rPr>
              <a:t>Defense-in-depth: SQL Guard (100% injection prevention) + Fernet AES-256 + JWT + bcrypt. Model-level instructions combined with code-level validation more robust than either alone.</a:t>
            </a:r>
          </a:p>
        </p:txBody>
      </p:sp>
      <p:sp>
        <p:nvSpPr>
          <p:cNvPr id="24" name="n4"/>
          <p:cNvSpPr/>
          <p:nvPr/>
        </p:nvSpPr>
        <p:spPr>
          <a:xfrm>
            <a:off x="500920" y="5606520"/>
            <a:ext cx="380000" cy="380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83918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hdr"/>
          <p:cNvSpPr/>
          <p:nvPr/>
        </p:nvSpPr>
        <p:spPr>
          <a:xfrm>
            <a:off x="0" y="0"/>
            <a:ext cx="12192000" cy="72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Work &amp; Recommendations</a:t>
            </a:r>
          </a:p>
        </p:txBody>
      </p:sp>
      <p:sp>
        <p:nvSpPr>
          <p:cNvPr id="11" name="fw1"/>
          <p:cNvSpPr/>
          <p:nvPr/>
        </p:nvSpPr>
        <p:spPr>
          <a:xfrm>
            <a:off x="1295400" y="1737400"/>
            <a:ext cx="4668520" cy="16916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059669"/>
            </a:solidFill>
          </a:ln>
        </p:spPr>
        <p:txBody>
          <a:bodyPr lIns="228600" tIns="190500" rIns="190500" anchor="t"/>
          <a:lstStyle/>
          <a:p>
            <a:pPr>
              <a:buNone/>
            </a:pPr>
            <a:r>
              <a:rPr lang="en-US" sz="1600" b="1" dirty="0">
                <a:solidFill>
                  <a:srgbClr val="059669"/>
                </a:solidFill>
              </a:rPr>
              <a:t>📡 Streaming Responses</a:t>
            </a:r>
            <a:r>
              <a:rPr lang="en-US" sz="1200" dirty="0">
                <a:solidFill>
                  <a:srgbClr val="94A3B8"/>
                </a:solidFill>
              </a:rPr>
              <a:t>  [High]</a:t>
            </a:r>
          </a:p>
          <a:p>
            <a:pPr>
              <a:buNone/>
            </a:pPr>
            <a:r>
              <a:rPr lang="en-US" sz="1300" dirty="0">
                <a:solidFill>
                  <a:srgbClr val="334155"/>
                </a:solidFill>
              </a:rPr>
              <a:t>Stream SQL results row-by-row as generated. Reduces perceived latency from ~2s to near-instant first-byte for large result sets.</a:t>
            </a:r>
          </a:p>
        </p:txBody>
      </p:sp>
      <p:sp>
        <p:nvSpPr>
          <p:cNvPr id="13" name="fw3"/>
          <p:cNvSpPr/>
          <p:nvPr/>
        </p:nvSpPr>
        <p:spPr>
          <a:xfrm>
            <a:off x="6573520" y="1703200"/>
            <a:ext cx="4551680" cy="17258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D97706"/>
            </a:solidFill>
          </a:ln>
        </p:spPr>
        <p:txBody>
          <a:bodyPr lIns="228600" tIns="190500" rIns="190500" anchor="t"/>
          <a:lstStyle/>
          <a:p>
            <a:pPr>
              <a:buNone/>
            </a:pPr>
            <a:r>
              <a:rPr lang="en-US" sz="1600" b="1" dirty="0">
                <a:solidFill>
                  <a:srgbClr val="D97706"/>
                </a:solidFill>
              </a:rPr>
              <a:t>🧠 Vector Embeddings</a:t>
            </a:r>
            <a:r>
              <a:rPr lang="en-US" sz="1200" dirty="0">
                <a:solidFill>
                  <a:srgbClr val="94A3B8"/>
                </a:solidFill>
              </a:rPr>
              <a:t>  [Medium]</a:t>
            </a:r>
          </a:p>
          <a:p>
            <a:pPr>
              <a:buNone/>
            </a:pPr>
            <a:r>
              <a:rPr lang="en-US" sz="1300" dirty="0">
                <a:solidFill>
                  <a:srgbClr val="334155"/>
                </a:solidFill>
              </a:rPr>
              <a:t>Embed column names and sample values for semantic table selection. Use text-embedding-004 (Vertex AI) to resolve non-obvious column name mismatches.</a:t>
            </a:r>
          </a:p>
        </p:txBody>
      </p:sp>
      <p:sp>
        <p:nvSpPr>
          <p:cNvPr id="14" name="fw4"/>
          <p:cNvSpPr/>
          <p:nvPr/>
        </p:nvSpPr>
        <p:spPr>
          <a:xfrm>
            <a:off x="1427480" y="3983960"/>
            <a:ext cx="4668520" cy="16000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0D9488"/>
            </a:solidFill>
          </a:ln>
        </p:spPr>
        <p:txBody>
          <a:bodyPr lIns="228600" tIns="190500" rIns="190500" anchor="t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📅 Scheduled Reports + Alerts</a:t>
            </a:r>
            <a:r>
              <a:rPr lang="en-US" sz="1200" dirty="0">
                <a:solidFill>
                  <a:srgbClr val="94A3B8"/>
                </a:solidFill>
              </a:rPr>
              <a:t>  [Medium]</a:t>
            </a:r>
          </a:p>
          <a:p>
            <a:pPr>
              <a:buNone/>
            </a:pPr>
            <a:r>
              <a:rPr lang="en-US" sz="1300" dirty="0">
                <a:solidFill>
                  <a:srgbClr val="334155"/>
                </a:solidFill>
              </a:rPr>
              <a:t>Daily/weekly/monthly scheduled query execution with email delivery. Alert notifications when query results cross defined thresholds.</a:t>
            </a:r>
          </a:p>
        </p:txBody>
      </p:sp>
      <p:sp>
        <p:nvSpPr>
          <p:cNvPr id="15" name="fw5"/>
          <p:cNvSpPr/>
          <p:nvPr/>
        </p:nvSpPr>
        <p:spPr>
          <a:xfrm>
            <a:off x="6675120" y="3983960"/>
            <a:ext cx="4551680" cy="1600000"/>
          </a:xfrm>
          <a:prstGeom prst="roundRect">
            <a:avLst>
              <a:gd name="adj" fmla="val 15000"/>
            </a:avLst>
          </a:prstGeom>
          <a:solidFill>
            <a:srgbClr val="F8FAFF"/>
          </a:solidFill>
          <a:ln w="19050">
            <a:solidFill>
              <a:srgbClr val="64748B"/>
            </a:solidFill>
          </a:ln>
        </p:spPr>
        <p:txBody>
          <a:bodyPr lIns="228600" tIns="190500" rIns="190500" anchor="t"/>
          <a:lstStyle/>
          <a:p>
            <a:pPr>
              <a:buNone/>
            </a:pPr>
            <a:r>
              <a:rPr lang="en-US" sz="1600" b="1" dirty="0">
                <a:solidFill>
                  <a:srgbClr val="64748B"/>
                </a:solidFill>
              </a:rPr>
              <a:t>🏢 Multi-Tenant SaaS Architecture</a:t>
            </a:r>
            <a:r>
              <a:rPr lang="en-US" sz="1200" dirty="0">
                <a:solidFill>
                  <a:srgbClr val="94A3B8"/>
                </a:solidFill>
              </a:rPr>
              <a:t>  [Long-term]</a:t>
            </a:r>
          </a:p>
          <a:p>
            <a:pPr>
              <a:buNone/>
            </a:pPr>
            <a:r>
              <a:rPr lang="en-US" sz="1300" dirty="0">
                <a:solidFill>
                  <a:srgbClr val="334155"/>
                </a:solidFill>
              </a:rPr>
              <a:t>Isolated workspaces per organization. Centralized admin panel. Per-user schema pattern already provides the data isolation foundation.</a:t>
            </a:r>
          </a:p>
        </p:txBody>
      </p:sp>
    </p:spTree>
    <p:extLst>
      <p:ext uri="{BB962C8B-B14F-4D97-AF65-F5344CB8AC3E}">
        <p14:creationId xmlns:p14="http://schemas.microsoft.com/office/powerpoint/2010/main" val="2585684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nd"/>
          <p:cNvSpPr/>
          <p:nvPr/>
        </p:nvSpPr>
        <p:spPr>
          <a:xfrm>
            <a:off x="0" y="0"/>
            <a:ext cx="12192000" cy="2987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</a:p>
          <a:p>
            <a:pPr algn="ctr">
              <a:buNone/>
            </a:pPr>
            <a:r>
              <a:rPr lang="en-US" sz="1800" dirty="0">
                <a:solidFill>
                  <a:srgbClr val="C7D2FE"/>
                </a:solidFill>
              </a:rPr>
              <a:t>Database Assistant - SJSU CMPE 295B · Spring 2026</a:t>
            </a:r>
          </a:p>
        </p:txBody>
      </p:sp>
      <p:sp>
        <p:nvSpPr>
          <p:cNvPr id="3" name="team"/>
          <p:cNvSpPr/>
          <p:nvPr/>
        </p:nvSpPr>
        <p:spPr>
          <a:xfrm>
            <a:off x="421640" y="3463960"/>
            <a:ext cx="5593080" cy="198000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txBody>
          <a:bodyPr lIns="228600" rIns="2286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4F46E5"/>
                </a:solidFill>
              </a:rPr>
              <a:t>Team</a:t>
            </a:r>
          </a:p>
          <a:p>
            <a:pPr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Siri Batchu · Shruti Goyal</a:t>
            </a:r>
          </a:p>
          <a:p>
            <a:pPr algn="ctr">
              <a:buNone/>
            </a:pPr>
            <a:r>
              <a:rPr lang="en-US" sz="1400" dirty="0">
                <a:solidFill>
                  <a:srgbClr val="1E293B"/>
                </a:solidFill>
              </a:rPr>
              <a:t>Rutuja Bhaskarrao Patil · Aditya Rajpurohit</a:t>
            </a:r>
          </a:p>
          <a:p>
            <a:pPr algn="ctr">
              <a:buNone/>
            </a:pPr>
            <a:r>
              <a:rPr lang="en-US" sz="1000" dirty="0"/>
              <a:t> </a:t>
            </a:r>
          </a:p>
          <a:p>
            <a:pPr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Advisor</a:t>
            </a:r>
            <a:r>
              <a:rPr lang="en-US" sz="1300" dirty="0">
                <a:solidFill>
                  <a:srgbClr val="475569"/>
                </a:solidFill>
              </a:rPr>
              <a:t>: Prof. Vijay </a:t>
            </a:r>
            <a:r>
              <a:rPr lang="en-US" sz="1300" dirty="0" err="1">
                <a:solidFill>
                  <a:srgbClr val="475569"/>
                </a:solidFill>
              </a:rPr>
              <a:t>Eranti</a:t>
            </a:r>
            <a:endParaRPr lang="en-US" sz="1300" dirty="0">
              <a:solidFill>
                <a:srgbClr val="475569"/>
              </a:solidFill>
            </a:endParaRPr>
          </a:p>
        </p:txBody>
      </p:sp>
      <p:sp>
        <p:nvSpPr>
          <p:cNvPr id="4" name="links"/>
          <p:cNvSpPr/>
          <p:nvPr/>
        </p:nvSpPr>
        <p:spPr>
          <a:xfrm>
            <a:off x="6410962" y="3463960"/>
            <a:ext cx="5516878" cy="1980000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txBody>
          <a:bodyPr lIns="228600" rIns="2286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059669"/>
                </a:solidFill>
              </a:rPr>
              <a:t>Try It Live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App: </a:t>
            </a:r>
            <a:r>
              <a:rPr lang="en-US" sz="1300" dirty="0" err="1">
                <a:solidFill>
                  <a:srgbClr val="475569"/>
                </a:solidFill>
              </a:rPr>
              <a:t>db</a:t>
            </a:r>
            <a:r>
              <a:rPr lang="en-US" sz="1300" dirty="0">
                <a:solidFill>
                  <a:srgbClr val="475569"/>
                </a:solidFill>
              </a:rPr>
              <a:t>-assistant-frontend-</a:t>
            </a:r>
          </a:p>
          <a:p>
            <a:pPr>
              <a:buNone/>
            </a:pPr>
            <a:r>
              <a:rPr lang="en-US" sz="1300" dirty="0">
                <a:solidFill>
                  <a:srgbClr val="4F46E5"/>
                </a:solidFill>
              </a:rPr>
              <a:t>105401535311.us-central1.run.app</a:t>
            </a:r>
          </a:p>
          <a:p>
            <a:pPr>
              <a:buNone/>
            </a:pPr>
            <a:r>
              <a:rPr lang="en-US" sz="1000" dirty="0"/>
              <a:t> </a:t>
            </a:r>
          </a:p>
          <a:p>
            <a:pPr>
              <a:buNone/>
            </a:pPr>
            <a:r>
              <a:rPr lang="en-US" sz="1300" dirty="0">
                <a:solidFill>
                  <a:srgbClr val="475569"/>
                </a:solidFill>
              </a:rPr>
              <a:t>API Docs: </a:t>
            </a:r>
            <a:r>
              <a:rPr lang="en-US" sz="1300" dirty="0" err="1">
                <a:solidFill>
                  <a:srgbClr val="475569"/>
                </a:solidFill>
              </a:rPr>
              <a:t>db</a:t>
            </a:r>
            <a:r>
              <a:rPr lang="en-US" sz="1300" dirty="0">
                <a:solidFill>
                  <a:srgbClr val="475569"/>
                </a:solidFill>
              </a:rPr>
              <a:t>-assistant-backend-</a:t>
            </a:r>
          </a:p>
          <a:p>
            <a:pPr>
              <a:buNone/>
            </a:pPr>
            <a:r>
              <a:rPr lang="en-US" sz="1300" dirty="0">
                <a:solidFill>
                  <a:srgbClr val="4F46E5"/>
                </a:solidFill>
              </a:rPr>
              <a:t>105401535311.us-central1.run.app/docs</a:t>
            </a:r>
          </a:p>
        </p:txBody>
      </p:sp>
    </p:spTree>
    <p:extLst>
      <p:ext uri="{BB962C8B-B14F-4D97-AF65-F5344CB8AC3E}">
        <p14:creationId xmlns:p14="http://schemas.microsoft.com/office/powerpoint/2010/main" val="1796363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2737</Words>
  <Application>Microsoft Office PowerPoint</Application>
  <PresentationFormat>Widescreen</PresentationFormat>
  <Paragraphs>498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Rutuja Patil</dc:creator>
  <cp:lastModifiedBy>Rutuja Patil</cp:lastModifiedBy>
  <cp:revision>1</cp:revision>
  <dcterms:created xsi:type="dcterms:W3CDTF">2026-05-14T23:27:29Z</dcterms:created>
  <dcterms:modified xsi:type="dcterms:W3CDTF">2026-05-14T23:32:27Z</dcterms:modified>
</cp:coreProperties>
</file>